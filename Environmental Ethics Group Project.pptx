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5143500" cx="9144000"/>
  <p:notesSz cx="6858000" cy="9144000"/>
  <p:embeddedFontLst>
    <p:embeddedFont>
      <p:font typeface="Spinnaker"/>
      <p:regular r:id="rId36"/>
    </p:embeddedFont>
    <p:embeddedFont>
      <p:font typeface="Unbounded SemiBold"/>
      <p:regular r:id="rId37"/>
      <p:bold r:id="rId38"/>
    </p:embeddedFont>
    <p:embeddedFont>
      <p:font typeface="Anaheim"/>
      <p:regular r:id="rId39"/>
      <p:bold r:id="rId40"/>
    </p:embeddedFont>
    <p:embeddedFont>
      <p:font typeface="Unbounded ExtraBold"/>
      <p:bold r:id="rId41"/>
    </p:embeddedFont>
    <p:embeddedFont>
      <p:font typeface="Unbounde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Anaheim-bold.fntdata"/><Relationship Id="rId20" Type="http://schemas.openxmlformats.org/officeDocument/2006/relationships/slide" Target="slides/slide16.xml"/><Relationship Id="rId42" Type="http://schemas.openxmlformats.org/officeDocument/2006/relationships/font" Target="fonts/Unbounded-regular.fntdata"/><Relationship Id="rId41" Type="http://schemas.openxmlformats.org/officeDocument/2006/relationships/font" Target="fonts/UnboundedExtraBold-bold.fntdata"/><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font" Target="fonts/Unbounded-bold.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UnboundedSemiBold-regular.fntdata"/><Relationship Id="rId14" Type="http://schemas.openxmlformats.org/officeDocument/2006/relationships/slide" Target="slides/slide10.xml"/><Relationship Id="rId36" Type="http://schemas.openxmlformats.org/officeDocument/2006/relationships/font" Target="fonts/Spinnaker-regular.fntdata"/><Relationship Id="rId17" Type="http://schemas.openxmlformats.org/officeDocument/2006/relationships/slide" Target="slides/slide13.xml"/><Relationship Id="rId39" Type="http://schemas.openxmlformats.org/officeDocument/2006/relationships/font" Target="fonts/Anaheim-regular.fntdata"/><Relationship Id="rId16" Type="http://schemas.openxmlformats.org/officeDocument/2006/relationships/slide" Target="slides/slide12.xml"/><Relationship Id="rId38" Type="http://schemas.openxmlformats.org/officeDocument/2006/relationships/font" Target="fonts/UnboundedSemiBold-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a0e412e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ca0e412e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ca0e412e5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ca0e412e5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ca0e412e5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ca0e412e5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ca0e412e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ca0e412e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a0e412e5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a0e412e5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a0e412e5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a0e412e5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ca0e412e5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ca0e412e5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ca0e412e5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ca0e412e5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ca0e412e5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ca0e412e5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ca0e412e5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ca0e412e5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a0e412e5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ca0e412e5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c0745aab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c0745aab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c0745aabf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c0745aabf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c0745aabf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c0745aabf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c0745aabf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c0745aabf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c0745aabf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c0745aabf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ca0e412e5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ca0e412e5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ca333522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ca333522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ca0e412e5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ca0e412e5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ca0e412e5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ca0e412e5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ca0e412e5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ca0e412e5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ca0e412e5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ca0e412e5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caeea170a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caeea170a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ca0e412e54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ca0e412e54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ca0e412e5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ca0e412e5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ca0e412e5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ca0e412e5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ca0e412e5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ca0e412e5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caeea170a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caeea170a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 name="Google Shape;10;p2"/>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421050" y="-872075"/>
            <a:ext cx="10524450" cy="6436800"/>
            <a:chOff x="-421050" y="-872075"/>
            <a:chExt cx="10524450" cy="6436800"/>
          </a:xfrm>
        </p:grpSpPr>
        <p:sp>
          <p:nvSpPr>
            <p:cNvPr id="13" name="Google Shape;13;p2"/>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 name="Google Shape;14;p2"/>
            <p:cNvGrpSpPr/>
            <p:nvPr/>
          </p:nvGrpSpPr>
          <p:grpSpPr>
            <a:xfrm>
              <a:off x="6148925" y="-872075"/>
              <a:ext cx="2489300" cy="1740000"/>
              <a:chOff x="6148925" y="-872075"/>
              <a:chExt cx="2489300" cy="1740000"/>
            </a:xfrm>
          </p:grpSpPr>
          <p:sp>
            <p:nvSpPr>
              <p:cNvPr id="15" name="Google Shape;15;p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 name="Google Shape;16;p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 name="Google Shape;17;p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 name="Google Shape;18;p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 name="Google Shape;19;p2"/>
          <p:cNvGrpSpPr/>
          <p:nvPr/>
        </p:nvGrpSpPr>
        <p:grpSpPr>
          <a:xfrm>
            <a:off x="-148218" y="81904"/>
            <a:ext cx="10251619" cy="5069347"/>
            <a:chOff x="-148218" y="81904"/>
            <a:chExt cx="10251619" cy="5069347"/>
          </a:xfrm>
        </p:grpSpPr>
        <p:pic>
          <p:nvPicPr>
            <p:cNvPr id="20" name="Google Shape;20;p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 name="Google Shape;21;p2"/>
            <p:cNvGrpSpPr/>
            <p:nvPr/>
          </p:nvGrpSpPr>
          <p:grpSpPr>
            <a:xfrm>
              <a:off x="359837" y="4401391"/>
              <a:ext cx="1102438" cy="577167"/>
              <a:chOff x="359837" y="4401391"/>
              <a:chExt cx="1102438" cy="577167"/>
            </a:xfrm>
          </p:grpSpPr>
          <p:pic>
            <p:nvPicPr>
              <p:cNvPr id="22" name="Google Shape;22;p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 name="Google Shape;23;p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4" name="Google Shape;24;p2"/>
            <p:cNvGrpSpPr/>
            <p:nvPr/>
          </p:nvGrpSpPr>
          <p:grpSpPr>
            <a:xfrm>
              <a:off x="-148218" y="81904"/>
              <a:ext cx="1188426" cy="1227668"/>
              <a:chOff x="-7843" y="83454"/>
              <a:chExt cx="1188426" cy="1227668"/>
            </a:xfrm>
          </p:grpSpPr>
          <p:pic>
            <p:nvPicPr>
              <p:cNvPr id="25" name="Google Shape;25;p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6" name="Google Shape;26;p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7" name="Google Shape;27;p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pic>
        <p:nvPicPr>
          <p:cNvPr id="29" name="Google Shape;29;p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 name="Google Shape;30;p3"/>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 name="Google Shape;31;p3"/>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Clr>
                <a:schemeClr val="lt1"/>
              </a:buClr>
              <a:buSzPts val="5000"/>
              <a:buNone/>
              <a:defRPr sz="5000">
                <a:solidFill>
                  <a:schemeClr val="lt1"/>
                </a:solidFill>
              </a:defRPr>
            </a:lvl2pPr>
            <a:lvl3pPr lvl="2" rtl="0" algn="ctr">
              <a:spcBef>
                <a:spcPts val="0"/>
              </a:spcBef>
              <a:spcAft>
                <a:spcPts val="0"/>
              </a:spcAft>
              <a:buClr>
                <a:schemeClr val="lt1"/>
              </a:buClr>
              <a:buSzPts val="5000"/>
              <a:buNone/>
              <a:defRPr sz="5000">
                <a:solidFill>
                  <a:schemeClr val="lt1"/>
                </a:solidFill>
              </a:defRPr>
            </a:lvl3pPr>
            <a:lvl4pPr lvl="3" rtl="0" algn="ctr">
              <a:spcBef>
                <a:spcPts val="0"/>
              </a:spcBef>
              <a:spcAft>
                <a:spcPts val="0"/>
              </a:spcAft>
              <a:buClr>
                <a:schemeClr val="lt1"/>
              </a:buClr>
              <a:buSzPts val="5000"/>
              <a:buNone/>
              <a:defRPr sz="5000">
                <a:solidFill>
                  <a:schemeClr val="lt1"/>
                </a:solidFill>
              </a:defRPr>
            </a:lvl4pPr>
            <a:lvl5pPr lvl="4" rtl="0" algn="ctr">
              <a:spcBef>
                <a:spcPts val="0"/>
              </a:spcBef>
              <a:spcAft>
                <a:spcPts val="0"/>
              </a:spcAft>
              <a:buClr>
                <a:schemeClr val="lt1"/>
              </a:buClr>
              <a:buSzPts val="5000"/>
              <a:buNone/>
              <a:defRPr sz="5000">
                <a:solidFill>
                  <a:schemeClr val="lt1"/>
                </a:solidFill>
              </a:defRPr>
            </a:lvl5pPr>
            <a:lvl6pPr lvl="5" rtl="0" algn="ctr">
              <a:spcBef>
                <a:spcPts val="0"/>
              </a:spcBef>
              <a:spcAft>
                <a:spcPts val="0"/>
              </a:spcAft>
              <a:buClr>
                <a:schemeClr val="lt1"/>
              </a:buClr>
              <a:buSzPts val="5000"/>
              <a:buNone/>
              <a:defRPr sz="5000">
                <a:solidFill>
                  <a:schemeClr val="lt1"/>
                </a:solidFill>
              </a:defRPr>
            </a:lvl6pPr>
            <a:lvl7pPr lvl="6" rtl="0" algn="ctr">
              <a:spcBef>
                <a:spcPts val="0"/>
              </a:spcBef>
              <a:spcAft>
                <a:spcPts val="0"/>
              </a:spcAft>
              <a:buClr>
                <a:schemeClr val="lt1"/>
              </a:buClr>
              <a:buSzPts val="5000"/>
              <a:buNone/>
              <a:defRPr sz="5000">
                <a:solidFill>
                  <a:schemeClr val="lt1"/>
                </a:solidFill>
              </a:defRPr>
            </a:lvl7pPr>
            <a:lvl8pPr lvl="7" rtl="0" algn="ctr">
              <a:spcBef>
                <a:spcPts val="0"/>
              </a:spcBef>
              <a:spcAft>
                <a:spcPts val="0"/>
              </a:spcAft>
              <a:buClr>
                <a:schemeClr val="lt1"/>
              </a:buClr>
              <a:buSzPts val="5000"/>
              <a:buNone/>
              <a:defRPr sz="5000">
                <a:solidFill>
                  <a:schemeClr val="lt1"/>
                </a:solidFill>
              </a:defRPr>
            </a:lvl8pPr>
            <a:lvl9pPr lvl="8" rtl="0" algn="ctr">
              <a:spcBef>
                <a:spcPts val="0"/>
              </a:spcBef>
              <a:spcAft>
                <a:spcPts val="0"/>
              </a:spcAft>
              <a:buClr>
                <a:schemeClr val="lt1"/>
              </a:buClr>
              <a:buSzPts val="5000"/>
              <a:buNone/>
              <a:defRPr sz="5000">
                <a:solidFill>
                  <a:schemeClr val="lt1"/>
                </a:solidFill>
              </a:defRPr>
            </a:lvl9pPr>
          </a:lstStyle>
          <a:p>
            <a:r>
              <a:t>xx%</a:t>
            </a:r>
          </a:p>
        </p:txBody>
      </p:sp>
      <p:sp>
        <p:nvSpPr>
          <p:cNvPr id="32" name="Google Shape;32;p3"/>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3" name="Google Shape;33;p3"/>
          <p:cNvGrpSpPr/>
          <p:nvPr/>
        </p:nvGrpSpPr>
        <p:grpSpPr>
          <a:xfrm>
            <a:off x="8206512" y="4230524"/>
            <a:ext cx="848365" cy="950159"/>
            <a:chOff x="41662" y="277999"/>
            <a:chExt cx="848365" cy="950159"/>
          </a:xfrm>
        </p:grpSpPr>
        <p:pic>
          <p:nvPicPr>
            <p:cNvPr id="34" name="Google Shape;34;p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5" name="Google Shape;35;p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6" name="Google Shape;36;p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7" name="Google Shape;37;p3"/>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38" name="Google Shape;38;p3"/>
          <p:cNvGrpSpPr/>
          <p:nvPr/>
        </p:nvGrpSpPr>
        <p:grpSpPr>
          <a:xfrm>
            <a:off x="-601700" y="-872075"/>
            <a:ext cx="10705100" cy="5548225"/>
            <a:chOff x="-601700" y="-872075"/>
            <a:chExt cx="10705100" cy="5548225"/>
          </a:xfrm>
        </p:grpSpPr>
        <p:sp>
          <p:nvSpPr>
            <p:cNvPr id="39" name="Google Shape;39;p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0" name="Google Shape;40;p3"/>
            <p:cNvGrpSpPr/>
            <p:nvPr/>
          </p:nvGrpSpPr>
          <p:grpSpPr>
            <a:xfrm rot="5400000">
              <a:off x="-2006450" y="1404750"/>
              <a:ext cx="4014600" cy="1205100"/>
              <a:chOff x="150" y="4543750"/>
              <a:chExt cx="4014600" cy="1205100"/>
            </a:xfrm>
          </p:grpSpPr>
          <p:sp>
            <p:nvSpPr>
              <p:cNvPr id="41" name="Google Shape;41;p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 name="Google Shape;42;p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3" name="Google Shape;43;p3"/>
            <p:cNvGrpSpPr/>
            <p:nvPr/>
          </p:nvGrpSpPr>
          <p:grpSpPr>
            <a:xfrm>
              <a:off x="6148925" y="-872075"/>
              <a:ext cx="2489300" cy="1740000"/>
              <a:chOff x="6148925" y="-872075"/>
              <a:chExt cx="2489300" cy="1740000"/>
            </a:xfrm>
          </p:grpSpPr>
          <p:sp>
            <p:nvSpPr>
              <p:cNvPr id="44" name="Google Shape;44;p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 name="Google Shape;45;p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 name="Shape 46"/>
        <p:cNvGrpSpPr/>
        <p:nvPr/>
      </p:nvGrpSpPr>
      <p:grpSpPr>
        <a:xfrm>
          <a:off x="0" y="0"/>
          <a:ext cx="0" cy="0"/>
          <a:chOff x="0" y="0"/>
          <a:chExt cx="0" cy="0"/>
        </a:xfrm>
      </p:grpSpPr>
      <p:pic>
        <p:nvPicPr>
          <p:cNvPr id="47" name="Google Shape;47;p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8" name="Google Shape;4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9" name="Google Shape;49;p4"/>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Nunito Light"/>
              <a:buChar char="●"/>
              <a:defRPr/>
            </a:lvl1pPr>
            <a:lvl2pPr indent="-317500" lvl="1" marL="914400" rtl="0">
              <a:lnSpc>
                <a:spcPct val="115000"/>
              </a:lnSpc>
              <a:spcBef>
                <a:spcPts val="0"/>
              </a:spcBef>
              <a:spcAft>
                <a:spcPts val="0"/>
              </a:spcAft>
              <a:buSzPts val="1400"/>
              <a:buFont typeface="Nunito Light"/>
              <a:buChar char="○"/>
              <a:defRPr/>
            </a:lvl2pPr>
            <a:lvl3pPr indent="-317500" lvl="2" marL="1371600" rtl="0">
              <a:lnSpc>
                <a:spcPct val="115000"/>
              </a:lnSpc>
              <a:spcBef>
                <a:spcPts val="0"/>
              </a:spcBef>
              <a:spcAft>
                <a:spcPts val="0"/>
              </a:spcAft>
              <a:buSzPts val="1400"/>
              <a:buFont typeface="Nunito Light"/>
              <a:buChar char="■"/>
              <a:defRPr/>
            </a:lvl3pPr>
            <a:lvl4pPr indent="-317500" lvl="3" marL="1828800" rtl="0">
              <a:lnSpc>
                <a:spcPct val="115000"/>
              </a:lnSpc>
              <a:spcBef>
                <a:spcPts val="0"/>
              </a:spcBef>
              <a:spcAft>
                <a:spcPts val="0"/>
              </a:spcAft>
              <a:buSzPts val="1400"/>
              <a:buFont typeface="Nunito Light"/>
              <a:buChar char="●"/>
              <a:defRPr/>
            </a:lvl4pPr>
            <a:lvl5pPr indent="-317500" lvl="4" marL="2286000" rtl="0">
              <a:lnSpc>
                <a:spcPct val="115000"/>
              </a:lnSpc>
              <a:spcBef>
                <a:spcPts val="0"/>
              </a:spcBef>
              <a:spcAft>
                <a:spcPts val="0"/>
              </a:spcAft>
              <a:buSzPts val="1400"/>
              <a:buFont typeface="Nunito Light"/>
              <a:buChar char="○"/>
              <a:defRPr/>
            </a:lvl5pPr>
            <a:lvl6pPr indent="-317500" lvl="5" marL="2743200" rtl="0">
              <a:lnSpc>
                <a:spcPct val="115000"/>
              </a:lnSpc>
              <a:spcBef>
                <a:spcPts val="0"/>
              </a:spcBef>
              <a:spcAft>
                <a:spcPts val="0"/>
              </a:spcAft>
              <a:buSzPts val="1400"/>
              <a:buFont typeface="Nunito Light"/>
              <a:buChar char="■"/>
              <a:defRPr/>
            </a:lvl6pPr>
            <a:lvl7pPr indent="-317500" lvl="6" marL="3200400" rtl="0">
              <a:lnSpc>
                <a:spcPct val="115000"/>
              </a:lnSpc>
              <a:spcBef>
                <a:spcPts val="0"/>
              </a:spcBef>
              <a:spcAft>
                <a:spcPts val="0"/>
              </a:spcAft>
              <a:buSzPts val="1400"/>
              <a:buFont typeface="Nunito Light"/>
              <a:buChar char="●"/>
              <a:defRPr/>
            </a:lvl7pPr>
            <a:lvl8pPr indent="-317500" lvl="7" marL="3657600" rtl="0">
              <a:lnSpc>
                <a:spcPct val="115000"/>
              </a:lnSpc>
              <a:spcBef>
                <a:spcPts val="0"/>
              </a:spcBef>
              <a:spcAft>
                <a:spcPts val="0"/>
              </a:spcAft>
              <a:buSzPts val="1400"/>
              <a:buFont typeface="Nunito Light"/>
              <a:buChar char="○"/>
              <a:defRPr/>
            </a:lvl8pPr>
            <a:lvl9pPr indent="-317500" lvl="8" marL="4114800" rtl="0">
              <a:lnSpc>
                <a:spcPct val="115000"/>
              </a:lnSpc>
              <a:spcBef>
                <a:spcPts val="0"/>
              </a:spcBef>
              <a:spcAft>
                <a:spcPts val="0"/>
              </a:spcAft>
              <a:buSzPts val="1400"/>
              <a:buFont typeface="Nunito Light"/>
              <a:buChar char="■"/>
              <a:defRPr/>
            </a:lvl9pPr>
          </a:lstStyle>
          <a:p/>
        </p:txBody>
      </p:sp>
      <p:grpSp>
        <p:nvGrpSpPr>
          <p:cNvPr id="50" name="Google Shape;50;p4"/>
          <p:cNvGrpSpPr/>
          <p:nvPr/>
        </p:nvGrpSpPr>
        <p:grpSpPr>
          <a:xfrm>
            <a:off x="150" y="2779250"/>
            <a:ext cx="10103250" cy="2785475"/>
            <a:chOff x="150" y="2779250"/>
            <a:chExt cx="10103250" cy="2785475"/>
          </a:xfrm>
        </p:grpSpPr>
        <p:sp>
          <p:nvSpPr>
            <p:cNvPr id="51" name="Google Shape;51;p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2" name="Google Shape;52;p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3" name="Google Shape;53;p4"/>
          <p:cNvGrpSpPr/>
          <p:nvPr/>
        </p:nvGrpSpPr>
        <p:grpSpPr>
          <a:xfrm>
            <a:off x="2" y="156617"/>
            <a:ext cx="1462273" cy="4821940"/>
            <a:chOff x="2" y="156617"/>
            <a:chExt cx="1462273" cy="4821940"/>
          </a:xfrm>
        </p:grpSpPr>
        <p:grpSp>
          <p:nvGrpSpPr>
            <p:cNvPr id="54" name="Google Shape;54;p4"/>
            <p:cNvGrpSpPr/>
            <p:nvPr/>
          </p:nvGrpSpPr>
          <p:grpSpPr>
            <a:xfrm>
              <a:off x="2" y="156617"/>
              <a:ext cx="719987" cy="944360"/>
              <a:chOff x="2" y="156617"/>
              <a:chExt cx="719987" cy="944360"/>
            </a:xfrm>
          </p:grpSpPr>
          <p:pic>
            <p:nvPicPr>
              <p:cNvPr id="55" name="Google Shape;55;p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6" name="Google Shape;56;p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57" name="Google Shape;57;p4"/>
            <p:cNvGrpSpPr/>
            <p:nvPr/>
          </p:nvGrpSpPr>
          <p:grpSpPr>
            <a:xfrm>
              <a:off x="359837" y="4401391"/>
              <a:ext cx="1102438" cy="577167"/>
              <a:chOff x="359837" y="4401391"/>
              <a:chExt cx="1102438" cy="577167"/>
            </a:xfrm>
          </p:grpSpPr>
          <p:pic>
            <p:nvPicPr>
              <p:cNvPr id="58" name="Google Shape;58;p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9" name="Google Shape;59;p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pic>
        <p:nvPicPr>
          <p:cNvPr id="61" name="Google Shape;61;p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2" name="Google Shape;6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3" name="Google Shape;63;p5"/>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 name="Google Shape;64;p5"/>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5" name="Google Shape;65;p5"/>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66" name="Google Shape;66;p5"/>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67" name="Google Shape;67;p5"/>
          <p:cNvGrpSpPr/>
          <p:nvPr/>
        </p:nvGrpSpPr>
        <p:grpSpPr>
          <a:xfrm>
            <a:off x="150" y="2779250"/>
            <a:ext cx="10103250" cy="2785475"/>
            <a:chOff x="150" y="2779250"/>
            <a:chExt cx="10103250" cy="2785475"/>
          </a:xfrm>
        </p:grpSpPr>
        <p:sp>
          <p:nvSpPr>
            <p:cNvPr id="68" name="Google Shape;68;p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9" name="Google Shape;69;p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0" name="Google Shape;70;p5"/>
          <p:cNvGrpSpPr/>
          <p:nvPr/>
        </p:nvGrpSpPr>
        <p:grpSpPr>
          <a:xfrm>
            <a:off x="2" y="156617"/>
            <a:ext cx="10103400" cy="4994633"/>
            <a:chOff x="2" y="156617"/>
            <a:chExt cx="10103400" cy="4994633"/>
          </a:xfrm>
        </p:grpSpPr>
        <p:grpSp>
          <p:nvGrpSpPr>
            <p:cNvPr id="71" name="Google Shape;71;p5"/>
            <p:cNvGrpSpPr/>
            <p:nvPr/>
          </p:nvGrpSpPr>
          <p:grpSpPr>
            <a:xfrm>
              <a:off x="2" y="156617"/>
              <a:ext cx="719987" cy="944360"/>
              <a:chOff x="2" y="156617"/>
              <a:chExt cx="719987" cy="944360"/>
            </a:xfrm>
          </p:grpSpPr>
          <p:pic>
            <p:nvPicPr>
              <p:cNvPr id="72" name="Google Shape;72;p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73" name="Google Shape;73;p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74" name="Google Shape;74;p5"/>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75" name="Google Shape;75;p5"/>
            <p:cNvGrpSpPr/>
            <p:nvPr/>
          </p:nvGrpSpPr>
          <p:grpSpPr>
            <a:xfrm>
              <a:off x="359837" y="4401391"/>
              <a:ext cx="1102438" cy="577167"/>
              <a:chOff x="359837" y="4401391"/>
              <a:chExt cx="1102438" cy="577167"/>
            </a:xfrm>
          </p:grpSpPr>
          <p:pic>
            <p:nvPicPr>
              <p:cNvPr id="76" name="Google Shape;76;p5"/>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7" name="Google Shape;77;p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pic>
        <p:nvPicPr>
          <p:cNvPr id="79" name="Google Shape;79;p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0" name="Google Shape;8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81" name="Google Shape;81;p6"/>
          <p:cNvGrpSpPr/>
          <p:nvPr/>
        </p:nvGrpSpPr>
        <p:grpSpPr>
          <a:xfrm>
            <a:off x="5129400" y="4543750"/>
            <a:ext cx="4014600" cy="1205100"/>
            <a:chOff x="5129400" y="4543750"/>
            <a:chExt cx="4014600" cy="1205100"/>
          </a:xfrm>
        </p:grpSpPr>
        <p:sp>
          <p:nvSpPr>
            <p:cNvPr id="82" name="Google Shape;82;p6"/>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3" name="Google Shape;83;p6"/>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4" name="Google Shape;84;p6"/>
          <p:cNvGrpSpPr/>
          <p:nvPr/>
        </p:nvGrpSpPr>
        <p:grpSpPr>
          <a:xfrm>
            <a:off x="2" y="156617"/>
            <a:ext cx="9296400" cy="4986881"/>
            <a:chOff x="2" y="156617"/>
            <a:chExt cx="9296400" cy="4986881"/>
          </a:xfrm>
        </p:grpSpPr>
        <p:grpSp>
          <p:nvGrpSpPr>
            <p:cNvPr id="85" name="Google Shape;85;p6"/>
            <p:cNvGrpSpPr/>
            <p:nvPr/>
          </p:nvGrpSpPr>
          <p:grpSpPr>
            <a:xfrm>
              <a:off x="2" y="156617"/>
              <a:ext cx="719987" cy="944360"/>
              <a:chOff x="2" y="156617"/>
              <a:chExt cx="719987" cy="944360"/>
            </a:xfrm>
          </p:grpSpPr>
          <p:pic>
            <p:nvPicPr>
              <p:cNvPr id="86" name="Google Shape;86;p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7" name="Google Shape;87;p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88" name="Google Shape;88;p6"/>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pic>
        <p:nvPicPr>
          <p:cNvPr id="90" name="Google Shape;90;p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1" name="Google Shape;91;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 name="Google Shape;92;p7"/>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93" name="Google Shape;93;p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4" name="Google Shape;94;p7"/>
          <p:cNvGrpSpPr/>
          <p:nvPr/>
        </p:nvGrpSpPr>
        <p:grpSpPr>
          <a:xfrm>
            <a:off x="2" y="156617"/>
            <a:ext cx="1462273" cy="4821940"/>
            <a:chOff x="2" y="156617"/>
            <a:chExt cx="1462273" cy="4821940"/>
          </a:xfrm>
        </p:grpSpPr>
        <p:grpSp>
          <p:nvGrpSpPr>
            <p:cNvPr id="95" name="Google Shape;95;p7"/>
            <p:cNvGrpSpPr/>
            <p:nvPr/>
          </p:nvGrpSpPr>
          <p:grpSpPr>
            <a:xfrm>
              <a:off x="2" y="156617"/>
              <a:ext cx="719987" cy="944360"/>
              <a:chOff x="2" y="156617"/>
              <a:chExt cx="719987" cy="944360"/>
            </a:xfrm>
          </p:grpSpPr>
          <p:pic>
            <p:nvPicPr>
              <p:cNvPr id="96" name="Google Shape;96;p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7" name="Google Shape;97;p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98" name="Google Shape;98;p7"/>
            <p:cNvGrpSpPr/>
            <p:nvPr/>
          </p:nvGrpSpPr>
          <p:grpSpPr>
            <a:xfrm>
              <a:off x="359837" y="4401391"/>
              <a:ext cx="1102438" cy="577167"/>
              <a:chOff x="359837" y="4401391"/>
              <a:chExt cx="1102438" cy="577167"/>
            </a:xfrm>
          </p:grpSpPr>
          <p:pic>
            <p:nvPicPr>
              <p:cNvPr id="99" name="Google Shape;99;p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00" name="Google Shape;100;p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1" name="Shape 101"/>
        <p:cNvGrpSpPr/>
        <p:nvPr/>
      </p:nvGrpSpPr>
      <p:grpSpPr>
        <a:xfrm>
          <a:off x="0" y="0"/>
          <a:ext cx="0" cy="0"/>
          <a:chOff x="0" y="0"/>
          <a:chExt cx="0" cy="0"/>
        </a:xfrm>
      </p:grpSpPr>
      <p:pic>
        <p:nvPicPr>
          <p:cNvPr id="102" name="Google Shape;102;p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3" name="Google Shape;103;p8"/>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04" name="Google Shape;104;p8"/>
          <p:cNvGrpSpPr/>
          <p:nvPr/>
        </p:nvGrpSpPr>
        <p:grpSpPr>
          <a:xfrm>
            <a:off x="-421050" y="0"/>
            <a:ext cx="10524450" cy="5564725"/>
            <a:chOff x="-421050" y="0"/>
            <a:chExt cx="10524450" cy="5564725"/>
          </a:xfrm>
        </p:grpSpPr>
        <p:sp>
          <p:nvSpPr>
            <p:cNvPr id="105" name="Google Shape;105;p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6" name="Google Shape;106;p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7" name="Google Shape;107;p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8" name="Google Shape;108;p8"/>
          <p:cNvGrpSpPr/>
          <p:nvPr/>
        </p:nvGrpSpPr>
        <p:grpSpPr>
          <a:xfrm>
            <a:off x="-148218" y="81904"/>
            <a:ext cx="10251619" cy="5069347"/>
            <a:chOff x="-148218" y="81904"/>
            <a:chExt cx="10251619" cy="5069347"/>
          </a:xfrm>
        </p:grpSpPr>
        <p:pic>
          <p:nvPicPr>
            <p:cNvPr id="109" name="Google Shape;109;p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10" name="Google Shape;110;p8"/>
            <p:cNvGrpSpPr/>
            <p:nvPr/>
          </p:nvGrpSpPr>
          <p:grpSpPr>
            <a:xfrm>
              <a:off x="359837" y="4401391"/>
              <a:ext cx="1102438" cy="577167"/>
              <a:chOff x="359837" y="4401391"/>
              <a:chExt cx="1102438" cy="577167"/>
            </a:xfrm>
          </p:grpSpPr>
          <p:pic>
            <p:nvPicPr>
              <p:cNvPr id="111" name="Google Shape;111;p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2" name="Google Shape;112;p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13" name="Google Shape;113;p8"/>
            <p:cNvGrpSpPr/>
            <p:nvPr/>
          </p:nvGrpSpPr>
          <p:grpSpPr>
            <a:xfrm>
              <a:off x="-148218" y="81904"/>
              <a:ext cx="1188426" cy="1227668"/>
              <a:chOff x="-7843" y="83454"/>
              <a:chExt cx="1188426" cy="1227668"/>
            </a:xfrm>
          </p:grpSpPr>
          <p:pic>
            <p:nvPicPr>
              <p:cNvPr id="114" name="Google Shape;114;p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15" name="Google Shape;115;p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16" name="Google Shape;116;p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pic>
        <p:nvPicPr>
          <p:cNvPr id="118" name="Google Shape;118;p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9" name="Google Shape;119;p9"/>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0" name="Google Shape;120;p9"/>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21" name="Google Shape;121;p9"/>
          <p:cNvGrpSpPr/>
          <p:nvPr/>
        </p:nvGrpSpPr>
        <p:grpSpPr>
          <a:xfrm>
            <a:off x="0" y="-859375"/>
            <a:ext cx="9504775" cy="6608225"/>
            <a:chOff x="0" y="-859375"/>
            <a:chExt cx="9504775" cy="6608225"/>
          </a:xfrm>
        </p:grpSpPr>
        <p:grpSp>
          <p:nvGrpSpPr>
            <p:cNvPr id="122" name="Google Shape;122;p9"/>
            <p:cNvGrpSpPr/>
            <p:nvPr/>
          </p:nvGrpSpPr>
          <p:grpSpPr>
            <a:xfrm flipH="1">
              <a:off x="5129400" y="4543750"/>
              <a:ext cx="4014600" cy="1205100"/>
              <a:chOff x="150" y="4543750"/>
              <a:chExt cx="4014600" cy="1205100"/>
            </a:xfrm>
          </p:grpSpPr>
          <p:sp>
            <p:nvSpPr>
              <p:cNvPr id="123" name="Google Shape;123;p9"/>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4" name="Google Shape;124;p9"/>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5" name="Google Shape;125;p9"/>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6" name="Google Shape;126;p9"/>
            <p:cNvGrpSpPr/>
            <p:nvPr/>
          </p:nvGrpSpPr>
          <p:grpSpPr>
            <a:xfrm flipH="1">
              <a:off x="0" y="-859375"/>
              <a:ext cx="2489300" cy="1740000"/>
              <a:chOff x="6148925" y="-872075"/>
              <a:chExt cx="2489300" cy="1740000"/>
            </a:xfrm>
          </p:grpSpPr>
          <p:sp>
            <p:nvSpPr>
              <p:cNvPr id="127" name="Google Shape;127;p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8" name="Google Shape;128;p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29" name="Google Shape;129;p9"/>
          <p:cNvGrpSpPr/>
          <p:nvPr/>
        </p:nvGrpSpPr>
        <p:grpSpPr>
          <a:xfrm>
            <a:off x="-736999" y="-445900"/>
            <a:ext cx="10033401" cy="5589398"/>
            <a:chOff x="-736999" y="-445900"/>
            <a:chExt cx="10033401" cy="5589398"/>
          </a:xfrm>
        </p:grpSpPr>
        <p:pic>
          <p:nvPicPr>
            <p:cNvPr id="130" name="Google Shape;130;p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31" name="Google Shape;131;p9"/>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10"/>
          <p:cNvSpPr/>
          <p:nvPr>
            <p:ph idx="2" type="pic"/>
          </p:nvPr>
        </p:nvSpPr>
        <p:spPr>
          <a:xfrm>
            <a:off x="-25" y="-13725"/>
            <a:ext cx="9144000" cy="5157300"/>
          </a:xfrm>
          <a:prstGeom prst="rect">
            <a:avLst/>
          </a:prstGeom>
          <a:noFill/>
          <a:ln>
            <a:noFill/>
          </a:ln>
        </p:spPr>
      </p:sp>
      <p:sp>
        <p:nvSpPr>
          <p:cNvPr id="134" name="Google Shape;134;p10"/>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5" name="Shape 135"/>
        <p:cNvGrpSpPr/>
        <p:nvPr/>
      </p:nvGrpSpPr>
      <p:grpSpPr>
        <a:xfrm>
          <a:off x="0" y="0"/>
          <a:ext cx="0" cy="0"/>
          <a:chOff x="0" y="0"/>
          <a:chExt cx="0" cy="0"/>
        </a:xfrm>
      </p:grpSpPr>
      <p:pic>
        <p:nvPicPr>
          <p:cNvPr id="136" name="Google Shape;136;p1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7" name="Google Shape;137;p11"/>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8" name="Google Shape;138;p11"/>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39" name="Google Shape;139;p11"/>
          <p:cNvGrpSpPr/>
          <p:nvPr/>
        </p:nvGrpSpPr>
        <p:grpSpPr>
          <a:xfrm>
            <a:off x="-601700" y="-872075"/>
            <a:ext cx="10705100" cy="5548225"/>
            <a:chOff x="-601700" y="-872075"/>
            <a:chExt cx="10705100" cy="5548225"/>
          </a:xfrm>
        </p:grpSpPr>
        <p:sp>
          <p:nvSpPr>
            <p:cNvPr id="140" name="Google Shape;140;p1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 name="Google Shape;141;p11"/>
            <p:cNvGrpSpPr/>
            <p:nvPr/>
          </p:nvGrpSpPr>
          <p:grpSpPr>
            <a:xfrm rot="5400000">
              <a:off x="-2006450" y="1404750"/>
              <a:ext cx="4014600" cy="1205100"/>
              <a:chOff x="150" y="4543750"/>
              <a:chExt cx="4014600" cy="1205100"/>
            </a:xfrm>
          </p:grpSpPr>
          <p:sp>
            <p:nvSpPr>
              <p:cNvPr id="142" name="Google Shape;142;p1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3" name="Google Shape;143;p1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44" name="Google Shape;144;p11"/>
            <p:cNvGrpSpPr/>
            <p:nvPr/>
          </p:nvGrpSpPr>
          <p:grpSpPr>
            <a:xfrm>
              <a:off x="6148925" y="-872075"/>
              <a:ext cx="2489300" cy="1740000"/>
              <a:chOff x="6148925" y="-872075"/>
              <a:chExt cx="2489300" cy="1740000"/>
            </a:xfrm>
          </p:grpSpPr>
          <p:sp>
            <p:nvSpPr>
              <p:cNvPr id="145" name="Google Shape;145;p1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6" name="Google Shape;146;p1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7" name="Google Shape;147;p11"/>
          <p:cNvGrpSpPr/>
          <p:nvPr/>
        </p:nvGrpSpPr>
        <p:grpSpPr>
          <a:xfrm>
            <a:off x="-100888" y="2838714"/>
            <a:ext cx="9155766" cy="2341969"/>
            <a:chOff x="-100888" y="2838714"/>
            <a:chExt cx="9155766" cy="2341969"/>
          </a:xfrm>
        </p:grpSpPr>
        <p:grpSp>
          <p:nvGrpSpPr>
            <p:cNvPr id="148" name="Google Shape;148;p11"/>
            <p:cNvGrpSpPr/>
            <p:nvPr/>
          </p:nvGrpSpPr>
          <p:grpSpPr>
            <a:xfrm>
              <a:off x="8206512" y="4230524"/>
              <a:ext cx="848365" cy="950159"/>
              <a:chOff x="41662" y="277999"/>
              <a:chExt cx="848365" cy="950159"/>
            </a:xfrm>
          </p:grpSpPr>
          <p:pic>
            <p:nvPicPr>
              <p:cNvPr id="149" name="Google Shape;149;p1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50" name="Google Shape;150;p1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51" name="Google Shape;151;p1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52" name="Google Shape;152;p11"/>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53" name="Shape 15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4" name="Shape 154"/>
        <p:cNvGrpSpPr/>
        <p:nvPr/>
      </p:nvGrpSpPr>
      <p:grpSpPr>
        <a:xfrm>
          <a:off x="0" y="0"/>
          <a:ext cx="0" cy="0"/>
          <a:chOff x="0" y="0"/>
          <a:chExt cx="0" cy="0"/>
        </a:xfrm>
      </p:grpSpPr>
      <p:pic>
        <p:nvPicPr>
          <p:cNvPr id="155" name="Google Shape;155;p1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56" name="Google Shape;156;p13"/>
          <p:cNvGrpSpPr/>
          <p:nvPr/>
        </p:nvGrpSpPr>
        <p:grpSpPr>
          <a:xfrm>
            <a:off x="7033266" y="-738725"/>
            <a:ext cx="2110732" cy="1475400"/>
            <a:chOff x="7033266" y="-738725"/>
            <a:chExt cx="2110732" cy="1475400"/>
          </a:xfrm>
        </p:grpSpPr>
        <p:sp>
          <p:nvSpPr>
            <p:cNvPr id="157" name="Google Shape;157;p13"/>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8" name="Google Shape;158;p13"/>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59" name="Google Shape;159;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0" name="Google Shape;160;p13"/>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1" name="Google Shape;161;p13"/>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62" name="Google Shape;162;p13"/>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rtl="0">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rtl="0">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rtl="0">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rtl="0">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rtl="0">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rtl="0">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rtl="0">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63" name="Google Shape;163;p13"/>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4" name="Google Shape;164;p13"/>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65" name="Google Shape;165;p13"/>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rtl="0">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rtl="0">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rtl="0">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rtl="0">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rtl="0">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rtl="0">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rtl="0">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66" name="Google Shape;166;p13"/>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7" name="Google Shape;167;p13"/>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68" name="Google Shape;168;p13"/>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rtl="0">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rtl="0">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rtl="0">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rtl="0">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rtl="0">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rtl="0">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rtl="0">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69" name="Google Shape;169;p13"/>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70" name="Google Shape;170;p13"/>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71" name="Google Shape;171;p13"/>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rtl="0">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rtl="0">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rtl="0">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rtl="0">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rtl="0">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rtl="0">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rtl="0">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rtl="0">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72" name="Google Shape;172;p13"/>
          <p:cNvGrpSpPr/>
          <p:nvPr/>
        </p:nvGrpSpPr>
        <p:grpSpPr>
          <a:xfrm>
            <a:off x="2" y="156617"/>
            <a:ext cx="9096298" cy="4929890"/>
            <a:chOff x="2" y="156617"/>
            <a:chExt cx="9096298" cy="4929890"/>
          </a:xfrm>
        </p:grpSpPr>
        <p:grpSp>
          <p:nvGrpSpPr>
            <p:cNvPr id="173" name="Google Shape;173;p13"/>
            <p:cNvGrpSpPr/>
            <p:nvPr/>
          </p:nvGrpSpPr>
          <p:grpSpPr>
            <a:xfrm>
              <a:off x="2" y="156617"/>
              <a:ext cx="719987" cy="944360"/>
              <a:chOff x="2" y="156617"/>
              <a:chExt cx="719987" cy="944360"/>
            </a:xfrm>
          </p:grpSpPr>
          <p:pic>
            <p:nvPicPr>
              <p:cNvPr id="174" name="Google Shape;174;p1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5" name="Google Shape;175;p1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76" name="Google Shape;176;p13"/>
            <p:cNvGrpSpPr/>
            <p:nvPr/>
          </p:nvGrpSpPr>
          <p:grpSpPr>
            <a:xfrm>
              <a:off x="7993862" y="4509341"/>
              <a:ext cx="1102438" cy="577167"/>
              <a:chOff x="7993862" y="4509341"/>
              <a:chExt cx="1102438" cy="577167"/>
            </a:xfrm>
          </p:grpSpPr>
          <p:pic>
            <p:nvPicPr>
              <p:cNvPr id="177" name="Google Shape;177;p13"/>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78" name="Google Shape;178;p13"/>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9" name="Shape 179"/>
        <p:cNvGrpSpPr/>
        <p:nvPr/>
      </p:nvGrpSpPr>
      <p:grpSpPr>
        <a:xfrm>
          <a:off x="0" y="0"/>
          <a:ext cx="0" cy="0"/>
          <a:chOff x="0" y="0"/>
          <a:chExt cx="0" cy="0"/>
        </a:xfrm>
      </p:grpSpPr>
      <p:pic>
        <p:nvPicPr>
          <p:cNvPr id="180" name="Google Shape;180;p1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1" name="Google Shape;181;p14"/>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2" name="Google Shape;182;p14"/>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pic>
        <p:nvPicPr>
          <p:cNvPr id="183" name="Google Shape;183;p1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84" name="Google Shape;184;p14"/>
          <p:cNvGrpSpPr/>
          <p:nvPr/>
        </p:nvGrpSpPr>
        <p:grpSpPr>
          <a:xfrm>
            <a:off x="0" y="-859375"/>
            <a:ext cx="9755475" cy="6421100"/>
            <a:chOff x="0" y="-859375"/>
            <a:chExt cx="9755475" cy="6421100"/>
          </a:xfrm>
        </p:grpSpPr>
        <p:sp>
          <p:nvSpPr>
            <p:cNvPr id="185" name="Google Shape;185;p1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6" name="Google Shape;186;p14"/>
            <p:cNvGrpSpPr/>
            <p:nvPr/>
          </p:nvGrpSpPr>
          <p:grpSpPr>
            <a:xfrm flipH="1">
              <a:off x="0" y="-859375"/>
              <a:ext cx="2489300" cy="1740000"/>
              <a:chOff x="6148925" y="-872075"/>
              <a:chExt cx="2489300" cy="1740000"/>
            </a:xfrm>
          </p:grpSpPr>
          <p:sp>
            <p:nvSpPr>
              <p:cNvPr id="187" name="Google Shape;187;p1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8" name="Google Shape;188;p1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9" name="Google Shape;189;p1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90" name="Shape 190"/>
        <p:cNvGrpSpPr/>
        <p:nvPr/>
      </p:nvGrpSpPr>
      <p:grpSpPr>
        <a:xfrm>
          <a:off x="0" y="0"/>
          <a:ext cx="0" cy="0"/>
          <a:chOff x="0" y="0"/>
          <a:chExt cx="0" cy="0"/>
        </a:xfrm>
      </p:grpSpPr>
      <p:pic>
        <p:nvPicPr>
          <p:cNvPr id="191" name="Google Shape;191;p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2" name="Google Shape;192;p15"/>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3" name="Google Shape;193;p15"/>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4" name="Google Shape;194;p15"/>
          <p:cNvSpPr/>
          <p:nvPr>
            <p:ph idx="2" type="pic"/>
          </p:nvPr>
        </p:nvSpPr>
        <p:spPr>
          <a:xfrm>
            <a:off x="4898950" y="533875"/>
            <a:ext cx="3489000" cy="4075800"/>
          </a:xfrm>
          <a:prstGeom prst="roundRect">
            <a:avLst>
              <a:gd fmla="val 18268" name="adj"/>
            </a:avLst>
          </a:prstGeom>
          <a:noFill/>
          <a:ln>
            <a:noFill/>
          </a:ln>
        </p:spPr>
      </p:sp>
      <p:grpSp>
        <p:nvGrpSpPr>
          <p:cNvPr id="195" name="Google Shape;195;p15"/>
          <p:cNvGrpSpPr/>
          <p:nvPr/>
        </p:nvGrpSpPr>
        <p:grpSpPr>
          <a:xfrm rot="5400000">
            <a:off x="-2006450" y="1404750"/>
            <a:ext cx="4014600" cy="1205100"/>
            <a:chOff x="150" y="4543750"/>
            <a:chExt cx="4014600" cy="1205100"/>
          </a:xfrm>
        </p:grpSpPr>
        <p:sp>
          <p:nvSpPr>
            <p:cNvPr id="196" name="Google Shape;196;p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7" name="Google Shape;197;p1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98" name="Shape 198"/>
        <p:cNvGrpSpPr/>
        <p:nvPr/>
      </p:nvGrpSpPr>
      <p:grpSpPr>
        <a:xfrm>
          <a:off x="0" y="0"/>
          <a:ext cx="0" cy="0"/>
          <a:chOff x="0" y="0"/>
          <a:chExt cx="0" cy="0"/>
        </a:xfrm>
      </p:grpSpPr>
      <p:pic>
        <p:nvPicPr>
          <p:cNvPr id="199" name="Google Shape;199;p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0" name="Google Shape;200;p16"/>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1" name="Google Shape;201;p16"/>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02" name="Google Shape;202;p16"/>
          <p:cNvGrpSpPr/>
          <p:nvPr/>
        </p:nvGrpSpPr>
        <p:grpSpPr>
          <a:xfrm>
            <a:off x="0" y="-859375"/>
            <a:ext cx="9755475" cy="6421100"/>
            <a:chOff x="0" y="-859375"/>
            <a:chExt cx="9755475" cy="6421100"/>
          </a:xfrm>
        </p:grpSpPr>
        <p:sp>
          <p:nvSpPr>
            <p:cNvPr id="203" name="Google Shape;203;p1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4" name="Google Shape;204;p16"/>
            <p:cNvGrpSpPr/>
            <p:nvPr/>
          </p:nvGrpSpPr>
          <p:grpSpPr>
            <a:xfrm flipH="1">
              <a:off x="0" y="-859375"/>
              <a:ext cx="2489300" cy="1740000"/>
              <a:chOff x="6148925" y="-872075"/>
              <a:chExt cx="2489300" cy="1740000"/>
            </a:xfrm>
          </p:grpSpPr>
          <p:sp>
            <p:nvSpPr>
              <p:cNvPr id="205" name="Google Shape;205;p1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6" name="Google Shape;206;p1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7" name="Google Shape;207;p1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08" name="Shape 208"/>
        <p:cNvGrpSpPr/>
        <p:nvPr/>
      </p:nvGrpSpPr>
      <p:grpSpPr>
        <a:xfrm>
          <a:off x="0" y="0"/>
          <a:ext cx="0" cy="0"/>
          <a:chOff x="0" y="0"/>
          <a:chExt cx="0" cy="0"/>
        </a:xfrm>
      </p:grpSpPr>
      <p:pic>
        <p:nvPicPr>
          <p:cNvPr id="209" name="Google Shape;209;p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0" name="Google Shape;210;p17"/>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1" name="Google Shape;211;p17"/>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2" name="Google Shape;212;p17"/>
          <p:cNvGrpSpPr/>
          <p:nvPr/>
        </p:nvGrpSpPr>
        <p:grpSpPr>
          <a:xfrm>
            <a:off x="-601700" y="0"/>
            <a:ext cx="10705100" cy="4676150"/>
            <a:chOff x="-601700" y="0"/>
            <a:chExt cx="10705100" cy="4676150"/>
          </a:xfrm>
        </p:grpSpPr>
        <p:sp>
          <p:nvSpPr>
            <p:cNvPr id="213" name="Google Shape;213;p1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4" name="Google Shape;214;p17"/>
            <p:cNvGrpSpPr/>
            <p:nvPr/>
          </p:nvGrpSpPr>
          <p:grpSpPr>
            <a:xfrm rot="5400000">
              <a:off x="-2006450" y="1404750"/>
              <a:ext cx="4014600" cy="1205100"/>
              <a:chOff x="150" y="4543750"/>
              <a:chExt cx="4014600" cy="1205100"/>
            </a:xfrm>
          </p:grpSpPr>
          <p:sp>
            <p:nvSpPr>
              <p:cNvPr id="215" name="Google Shape;215;p1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6" name="Google Shape;216;p1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17" name="Google Shape;217;p17"/>
          <p:cNvGrpSpPr/>
          <p:nvPr/>
        </p:nvGrpSpPr>
        <p:grpSpPr>
          <a:xfrm>
            <a:off x="8206512" y="4230524"/>
            <a:ext cx="848365" cy="950159"/>
            <a:chOff x="41662" y="277999"/>
            <a:chExt cx="848365" cy="950159"/>
          </a:xfrm>
        </p:grpSpPr>
        <p:pic>
          <p:nvPicPr>
            <p:cNvPr id="218" name="Google Shape;218;p1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19" name="Google Shape;219;p1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20" name="Google Shape;220;p1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21" name="Shape 221"/>
        <p:cNvGrpSpPr/>
        <p:nvPr/>
      </p:nvGrpSpPr>
      <p:grpSpPr>
        <a:xfrm>
          <a:off x="0" y="0"/>
          <a:ext cx="0" cy="0"/>
          <a:chOff x="0" y="0"/>
          <a:chExt cx="0" cy="0"/>
        </a:xfrm>
      </p:grpSpPr>
      <p:pic>
        <p:nvPicPr>
          <p:cNvPr id="222" name="Google Shape;222;p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3" name="Google Shape;22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4" name="Google Shape;224;p18"/>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5" name="Google Shape;225;p18"/>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6" name="Google Shape;226;p18"/>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27" name="Google Shape;227;p18"/>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28" name="Google Shape;228;p18"/>
          <p:cNvGrpSpPr/>
          <p:nvPr/>
        </p:nvGrpSpPr>
        <p:grpSpPr>
          <a:xfrm>
            <a:off x="-501600" y="128825"/>
            <a:ext cx="10252550" cy="5418500"/>
            <a:chOff x="-501600" y="128825"/>
            <a:chExt cx="10252550" cy="5418500"/>
          </a:xfrm>
        </p:grpSpPr>
        <p:sp>
          <p:nvSpPr>
            <p:cNvPr id="229" name="Google Shape;229;p1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0" name="Google Shape;230;p1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1" name="Google Shape;231;p1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2" name="Google Shape;232;p18"/>
          <p:cNvGrpSpPr/>
          <p:nvPr/>
        </p:nvGrpSpPr>
        <p:grpSpPr>
          <a:xfrm>
            <a:off x="2" y="156617"/>
            <a:ext cx="9088698" cy="4882915"/>
            <a:chOff x="2" y="156617"/>
            <a:chExt cx="9088698" cy="4882915"/>
          </a:xfrm>
        </p:grpSpPr>
        <p:grpSp>
          <p:nvGrpSpPr>
            <p:cNvPr id="233" name="Google Shape;233;p18"/>
            <p:cNvGrpSpPr/>
            <p:nvPr/>
          </p:nvGrpSpPr>
          <p:grpSpPr>
            <a:xfrm>
              <a:off x="2" y="156617"/>
              <a:ext cx="719987" cy="944360"/>
              <a:chOff x="2" y="156617"/>
              <a:chExt cx="719987" cy="944360"/>
            </a:xfrm>
          </p:grpSpPr>
          <p:pic>
            <p:nvPicPr>
              <p:cNvPr id="234" name="Google Shape;234;p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5" name="Google Shape;235;p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6" name="Google Shape;236;p18"/>
            <p:cNvGrpSpPr/>
            <p:nvPr/>
          </p:nvGrpSpPr>
          <p:grpSpPr>
            <a:xfrm>
              <a:off x="7986262" y="4462366"/>
              <a:ext cx="1102438" cy="577167"/>
              <a:chOff x="359837" y="4401391"/>
              <a:chExt cx="1102438" cy="577167"/>
            </a:xfrm>
          </p:grpSpPr>
          <p:pic>
            <p:nvPicPr>
              <p:cNvPr id="237" name="Google Shape;237;p1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8" name="Google Shape;238;p1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9" name="Shape 239"/>
        <p:cNvGrpSpPr/>
        <p:nvPr/>
      </p:nvGrpSpPr>
      <p:grpSpPr>
        <a:xfrm>
          <a:off x="0" y="0"/>
          <a:ext cx="0" cy="0"/>
          <a:chOff x="0" y="0"/>
          <a:chExt cx="0" cy="0"/>
        </a:xfrm>
      </p:grpSpPr>
      <p:pic>
        <p:nvPicPr>
          <p:cNvPr id="240" name="Google Shape;240;p1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1" name="Google Shape;24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2" name="Google Shape;242;p19"/>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3" name="Google Shape;243;p19"/>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44" name="Google Shape;244;p19"/>
          <p:cNvGrpSpPr/>
          <p:nvPr/>
        </p:nvGrpSpPr>
        <p:grpSpPr>
          <a:xfrm>
            <a:off x="275000" y="0"/>
            <a:ext cx="9374500" cy="5748850"/>
            <a:chOff x="275000" y="0"/>
            <a:chExt cx="9374500" cy="5748850"/>
          </a:xfrm>
        </p:grpSpPr>
        <p:sp>
          <p:nvSpPr>
            <p:cNvPr id="245" name="Google Shape;245;p1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6" name="Google Shape;246;p19"/>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7" name="Google Shape;247;p1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8" name="Google Shape;248;p19"/>
          <p:cNvGrpSpPr/>
          <p:nvPr/>
        </p:nvGrpSpPr>
        <p:grpSpPr>
          <a:xfrm>
            <a:off x="2" y="156617"/>
            <a:ext cx="9088698" cy="4882915"/>
            <a:chOff x="2" y="156617"/>
            <a:chExt cx="9088698" cy="4882915"/>
          </a:xfrm>
        </p:grpSpPr>
        <p:grpSp>
          <p:nvGrpSpPr>
            <p:cNvPr id="249" name="Google Shape;249;p19"/>
            <p:cNvGrpSpPr/>
            <p:nvPr/>
          </p:nvGrpSpPr>
          <p:grpSpPr>
            <a:xfrm>
              <a:off x="2" y="156617"/>
              <a:ext cx="719987" cy="944360"/>
              <a:chOff x="2" y="156617"/>
              <a:chExt cx="719987" cy="944360"/>
            </a:xfrm>
          </p:grpSpPr>
          <p:pic>
            <p:nvPicPr>
              <p:cNvPr id="250" name="Google Shape;250;p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51" name="Google Shape;251;p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52" name="Google Shape;252;p19"/>
            <p:cNvGrpSpPr/>
            <p:nvPr/>
          </p:nvGrpSpPr>
          <p:grpSpPr>
            <a:xfrm>
              <a:off x="7986262" y="4462366"/>
              <a:ext cx="1102438" cy="577167"/>
              <a:chOff x="359837" y="4401391"/>
              <a:chExt cx="1102438" cy="577167"/>
            </a:xfrm>
          </p:grpSpPr>
          <p:pic>
            <p:nvPicPr>
              <p:cNvPr id="253" name="Google Shape;253;p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4" name="Google Shape;254;p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55" name="Shape 255"/>
        <p:cNvGrpSpPr/>
        <p:nvPr/>
      </p:nvGrpSpPr>
      <p:grpSpPr>
        <a:xfrm>
          <a:off x="0" y="0"/>
          <a:ext cx="0" cy="0"/>
          <a:chOff x="0" y="0"/>
          <a:chExt cx="0" cy="0"/>
        </a:xfrm>
      </p:grpSpPr>
      <p:pic>
        <p:nvPicPr>
          <p:cNvPr id="256" name="Google Shape;256;p2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7" name="Google Shape;257;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8" name="Google Shape;258;p20"/>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 name="Google Shape;259;p20"/>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0" name="Google Shape;260;p20"/>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1" name="Google Shape;261;p20"/>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62" name="Google Shape;262;p20"/>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63" name="Google Shape;263;p20"/>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64" name="Google Shape;264;p20"/>
          <p:cNvGrpSpPr/>
          <p:nvPr/>
        </p:nvGrpSpPr>
        <p:grpSpPr>
          <a:xfrm>
            <a:off x="-601700" y="0"/>
            <a:ext cx="10705100" cy="4676150"/>
            <a:chOff x="-601700" y="0"/>
            <a:chExt cx="10705100" cy="4676150"/>
          </a:xfrm>
        </p:grpSpPr>
        <p:sp>
          <p:nvSpPr>
            <p:cNvPr id="265" name="Google Shape;265;p2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6" name="Google Shape;266;p20"/>
            <p:cNvGrpSpPr/>
            <p:nvPr/>
          </p:nvGrpSpPr>
          <p:grpSpPr>
            <a:xfrm rot="5400000">
              <a:off x="-2006450" y="1404750"/>
              <a:ext cx="4014600" cy="1205100"/>
              <a:chOff x="150" y="4543750"/>
              <a:chExt cx="4014600" cy="1205100"/>
            </a:xfrm>
          </p:grpSpPr>
          <p:sp>
            <p:nvSpPr>
              <p:cNvPr id="267" name="Google Shape;267;p2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8" name="Google Shape;268;p2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9" name="Google Shape;269;p20"/>
          <p:cNvGrpSpPr/>
          <p:nvPr/>
        </p:nvGrpSpPr>
        <p:grpSpPr>
          <a:xfrm>
            <a:off x="2" y="156617"/>
            <a:ext cx="9054876" cy="5024066"/>
            <a:chOff x="2" y="156617"/>
            <a:chExt cx="9054876" cy="5024066"/>
          </a:xfrm>
        </p:grpSpPr>
        <p:grpSp>
          <p:nvGrpSpPr>
            <p:cNvPr id="270" name="Google Shape;270;p20"/>
            <p:cNvGrpSpPr/>
            <p:nvPr/>
          </p:nvGrpSpPr>
          <p:grpSpPr>
            <a:xfrm>
              <a:off x="8206512" y="4230524"/>
              <a:ext cx="848365" cy="950159"/>
              <a:chOff x="41662" y="277999"/>
              <a:chExt cx="848365" cy="950159"/>
            </a:xfrm>
          </p:grpSpPr>
          <p:pic>
            <p:nvPicPr>
              <p:cNvPr id="271" name="Google Shape;271;p2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2" name="Google Shape;272;p2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3" name="Google Shape;273;p2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74" name="Google Shape;274;p20"/>
            <p:cNvGrpSpPr/>
            <p:nvPr/>
          </p:nvGrpSpPr>
          <p:grpSpPr>
            <a:xfrm>
              <a:off x="2" y="156617"/>
              <a:ext cx="719987" cy="944360"/>
              <a:chOff x="2" y="156617"/>
              <a:chExt cx="719987" cy="944360"/>
            </a:xfrm>
          </p:grpSpPr>
          <p:pic>
            <p:nvPicPr>
              <p:cNvPr id="275" name="Google Shape;275;p2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6" name="Google Shape;276;p2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77" name="Shape 277"/>
        <p:cNvGrpSpPr/>
        <p:nvPr/>
      </p:nvGrpSpPr>
      <p:grpSpPr>
        <a:xfrm>
          <a:off x="0" y="0"/>
          <a:ext cx="0" cy="0"/>
          <a:chOff x="0" y="0"/>
          <a:chExt cx="0" cy="0"/>
        </a:xfrm>
      </p:grpSpPr>
      <p:pic>
        <p:nvPicPr>
          <p:cNvPr id="278" name="Google Shape;278;p2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79" name="Google Shape;279;p21"/>
          <p:cNvGrpSpPr/>
          <p:nvPr/>
        </p:nvGrpSpPr>
        <p:grpSpPr>
          <a:xfrm>
            <a:off x="5129400" y="0"/>
            <a:ext cx="4520100" cy="5547325"/>
            <a:chOff x="5129400" y="0"/>
            <a:chExt cx="4520100" cy="5547325"/>
          </a:xfrm>
        </p:grpSpPr>
        <p:sp>
          <p:nvSpPr>
            <p:cNvPr id="280" name="Google Shape;280;p2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1" name="Google Shape;281;p2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2" name="Google Shape;282;p21"/>
          <p:cNvGrpSpPr/>
          <p:nvPr/>
        </p:nvGrpSpPr>
        <p:grpSpPr>
          <a:xfrm>
            <a:off x="2" y="156617"/>
            <a:ext cx="9088698" cy="4882915"/>
            <a:chOff x="2" y="156617"/>
            <a:chExt cx="9088698" cy="4882915"/>
          </a:xfrm>
        </p:grpSpPr>
        <p:grpSp>
          <p:nvGrpSpPr>
            <p:cNvPr id="283" name="Google Shape;283;p21"/>
            <p:cNvGrpSpPr/>
            <p:nvPr/>
          </p:nvGrpSpPr>
          <p:grpSpPr>
            <a:xfrm>
              <a:off x="2" y="156617"/>
              <a:ext cx="719987" cy="944360"/>
              <a:chOff x="2" y="156617"/>
              <a:chExt cx="719987" cy="944360"/>
            </a:xfrm>
          </p:grpSpPr>
          <p:pic>
            <p:nvPicPr>
              <p:cNvPr id="284" name="Google Shape;284;p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5" name="Google Shape;285;p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6" name="Google Shape;286;p21"/>
            <p:cNvGrpSpPr/>
            <p:nvPr/>
          </p:nvGrpSpPr>
          <p:grpSpPr>
            <a:xfrm>
              <a:off x="7986262" y="4462366"/>
              <a:ext cx="1102438" cy="577167"/>
              <a:chOff x="359837" y="4401391"/>
              <a:chExt cx="1102438" cy="577167"/>
            </a:xfrm>
          </p:grpSpPr>
          <p:pic>
            <p:nvPicPr>
              <p:cNvPr id="287" name="Google Shape;287;p2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8" name="Google Shape;288;p2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89" name="Google Shape;289;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0" name="Google Shape;290;p21"/>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91" name="Google Shape;291;p21"/>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92" name="Google Shape;292;p21"/>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93" name="Google Shape;293;p21"/>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94" name="Google Shape;294;p21"/>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5" name="Google Shape;295;p21"/>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6" name="Google Shape;296;p21"/>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7" name="Google Shape;297;p21"/>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98" name="Shape 298"/>
        <p:cNvGrpSpPr/>
        <p:nvPr/>
      </p:nvGrpSpPr>
      <p:grpSpPr>
        <a:xfrm>
          <a:off x="0" y="0"/>
          <a:ext cx="0" cy="0"/>
          <a:chOff x="0" y="0"/>
          <a:chExt cx="0" cy="0"/>
        </a:xfrm>
      </p:grpSpPr>
      <p:pic>
        <p:nvPicPr>
          <p:cNvPr id="299" name="Google Shape;299;p2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0" name="Google Shape;300;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1" name="Google Shape;301;p22"/>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 name="Google Shape;302;p22"/>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3" name="Google Shape;303;p22"/>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4" name="Google Shape;304;p22"/>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5" name="Google Shape;305;p22"/>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6" name="Google Shape;306;p22"/>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7" name="Google Shape;307;p22"/>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8" name="Google Shape;308;p22"/>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9" name="Google Shape;309;p22"/>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0" name="Google Shape;310;p22"/>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1" name="Google Shape;311;p22"/>
          <p:cNvGrpSpPr/>
          <p:nvPr/>
        </p:nvGrpSpPr>
        <p:grpSpPr>
          <a:xfrm>
            <a:off x="2" y="156617"/>
            <a:ext cx="719987" cy="944360"/>
            <a:chOff x="2" y="156617"/>
            <a:chExt cx="719987" cy="944360"/>
          </a:xfrm>
        </p:grpSpPr>
        <p:pic>
          <p:nvPicPr>
            <p:cNvPr id="312" name="Google Shape;312;p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3" name="Google Shape;313;p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4" name="Google Shape;314;p22"/>
          <p:cNvGrpSpPr/>
          <p:nvPr/>
        </p:nvGrpSpPr>
        <p:grpSpPr>
          <a:xfrm>
            <a:off x="0" y="2817900"/>
            <a:ext cx="9640900" cy="2932900"/>
            <a:chOff x="0" y="2817900"/>
            <a:chExt cx="9640900" cy="2932900"/>
          </a:xfrm>
        </p:grpSpPr>
        <p:sp>
          <p:nvSpPr>
            <p:cNvPr id="315" name="Google Shape;315;p22"/>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 name="Google Shape;316;p22"/>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7" name="Google Shape;317;p22"/>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18" name="Shape 318"/>
        <p:cNvGrpSpPr/>
        <p:nvPr/>
      </p:nvGrpSpPr>
      <p:grpSpPr>
        <a:xfrm>
          <a:off x="0" y="0"/>
          <a:ext cx="0" cy="0"/>
          <a:chOff x="0" y="0"/>
          <a:chExt cx="0" cy="0"/>
        </a:xfrm>
      </p:grpSpPr>
      <p:pic>
        <p:nvPicPr>
          <p:cNvPr id="319" name="Google Shape;319;p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0" name="Google Shape;32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1" name="Google Shape;321;p23"/>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2" name="Google Shape;322;p23"/>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3" name="Google Shape;323;p23"/>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4" name="Google Shape;324;p23"/>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 name="Google Shape;325;p23"/>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6" name="Google Shape;326;p23"/>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7" name="Google Shape;327;p23"/>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8" name="Google Shape;328;p23"/>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9" name="Google Shape;329;p23"/>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30" name="Google Shape;330;p23"/>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31" name="Google Shape;331;p23"/>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32" name="Google Shape;332;p23"/>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rtl="0"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33" name="Google Shape;333;p23"/>
          <p:cNvGrpSpPr/>
          <p:nvPr/>
        </p:nvGrpSpPr>
        <p:grpSpPr>
          <a:xfrm>
            <a:off x="-501600" y="128825"/>
            <a:ext cx="10252550" cy="5418500"/>
            <a:chOff x="-501600" y="128825"/>
            <a:chExt cx="10252550" cy="5418500"/>
          </a:xfrm>
        </p:grpSpPr>
        <p:sp>
          <p:nvSpPr>
            <p:cNvPr id="334" name="Google Shape;334;p2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5" name="Google Shape;335;p2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6" name="Google Shape;336;p2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7" name="Google Shape;337;p23"/>
          <p:cNvGrpSpPr/>
          <p:nvPr/>
        </p:nvGrpSpPr>
        <p:grpSpPr>
          <a:xfrm>
            <a:off x="2" y="156617"/>
            <a:ext cx="9088698" cy="4882915"/>
            <a:chOff x="2" y="156617"/>
            <a:chExt cx="9088698" cy="4882915"/>
          </a:xfrm>
        </p:grpSpPr>
        <p:grpSp>
          <p:nvGrpSpPr>
            <p:cNvPr id="338" name="Google Shape;338;p23"/>
            <p:cNvGrpSpPr/>
            <p:nvPr/>
          </p:nvGrpSpPr>
          <p:grpSpPr>
            <a:xfrm>
              <a:off x="2" y="156617"/>
              <a:ext cx="719987" cy="944360"/>
              <a:chOff x="2" y="156617"/>
              <a:chExt cx="719987" cy="944360"/>
            </a:xfrm>
          </p:grpSpPr>
          <p:pic>
            <p:nvPicPr>
              <p:cNvPr id="339" name="Google Shape;339;p2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40" name="Google Shape;340;p2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41" name="Google Shape;341;p23"/>
            <p:cNvGrpSpPr/>
            <p:nvPr/>
          </p:nvGrpSpPr>
          <p:grpSpPr>
            <a:xfrm>
              <a:off x="7986262" y="4462366"/>
              <a:ext cx="1102438" cy="577167"/>
              <a:chOff x="359837" y="4401391"/>
              <a:chExt cx="1102438" cy="577167"/>
            </a:xfrm>
          </p:grpSpPr>
          <p:pic>
            <p:nvPicPr>
              <p:cNvPr id="342" name="Google Shape;342;p2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43" name="Google Shape;343;p2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44" name="Shape 344"/>
        <p:cNvGrpSpPr/>
        <p:nvPr/>
      </p:nvGrpSpPr>
      <p:grpSpPr>
        <a:xfrm>
          <a:off x="0" y="0"/>
          <a:ext cx="0" cy="0"/>
          <a:chOff x="0" y="0"/>
          <a:chExt cx="0" cy="0"/>
        </a:xfrm>
      </p:grpSpPr>
      <p:pic>
        <p:nvPicPr>
          <p:cNvPr id="345" name="Google Shape;345;p2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46" name="Google Shape;346;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47" name="Google Shape;347;p24"/>
          <p:cNvGrpSpPr/>
          <p:nvPr/>
        </p:nvGrpSpPr>
        <p:grpSpPr>
          <a:xfrm>
            <a:off x="2" y="156617"/>
            <a:ext cx="719987" cy="944360"/>
            <a:chOff x="2" y="156617"/>
            <a:chExt cx="719987" cy="944360"/>
          </a:xfrm>
        </p:grpSpPr>
        <p:pic>
          <p:nvPicPr>
            <p:cNvPr id="348" name="Google Shape;348;p2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49" name="Google Shape;349;p2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50" name="Google Shape;350;p24"/>
          <p:cNvGrpSpPr/>
          <p:nvPr/>
        </p:nvGrpSpPr>
        <p:grpSpPr>
          <a:xfrm>
            <a:off x="0" y="0"/>
            <a:ext cx="9569050" cy="5569647"/>
            <a:chOff x="0" y="0"/>
            <a:chExt cx="9569050" cy="5569647"/>
          </a:xfrm>
        </p:grpSpPr>
        <p:sp>
          <p:nvSpPr>
            <p:cNvPr id="351" name="Google Shape;351;p2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2" name="Google Shape;352;p2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53" name="Shape 353"/>
        <p:cNvGrpSpPr/>
        <p:nvPr/>
      </p:nvGrpSpPr>
      <p:grpSpPr>
        <a:xfrm>
          <a:off x="0" y="0"/>
          <a:ext cx="0" cy="0"/>
          <a:chOff x="0" y="0"/>
          <a:chExt cx="0" cy="0"/>
        </a:xfrm>
      </p:grpSpPr>
      <p:pic>
        <p:nvPicPr>
          <p:cNvPr id="354" name="Google Shape;354;p2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55" name="Google Shape;35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56" name="Google Shape;356;p25"/>
          <p:cNvGrpSpPr/>
          <p:nvPr/>
        </p:nvGrpSpPr>
        <p:grpSpPr>
          <a:xfrm>
            <a:off x="2" y="156617"/>
            <a:ext cx="719987" cy="944360"/>
            <a:chOff x="2" y="156617"/>
            <a:chExt cx="719987" cy="944360"/>
          </a:xfrm>
        </p:grpSpPr>
        <p:pic>
          <p:nvPicPr>
            <p:cNvPr id="357" name="Google Shape;357;p2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58" name="Google Shape;358;p2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59" name="Google Shape;359;p25"/>
          <p:cNvGrpSpPr/>
          <p:nvPr/>
        </p:nvGrpSpPr>
        <p:grpSpPr>
          <a:xfrm>
            <a:off x="0" y="0"/>
            <a:ext cx="9569050" cy="5569647"/>
            <a:chOff x="0" y="0"/>
            <a:chExt cx="9569050" cy="5569647"/>
          </a:xfrm>
        </p:grpSpPr>
        <p:sp>
          <p:nvSpPr>
            <p:cNvPr id="360" name="Google Shape;360;p2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1" name="Google Shape;361;p2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62" name="Shape 362"/>
        <p:cNvGrpSpPr/>
        <p:nvPr/>
      </p:nvGrpSpPr>
      <p:grpSpPr>
        <a:xfrm>
          <a:off x="0" y="0"/>
          <a:ext cx="0" cy="0"/>
          <a:chOff x="0" y="0"/>
          <a:chExt cx="0" cy="0"/>
        </a:xfrm>
      </p:grpSpPr>
      <p:pic>
        <p:nvPicPr>
          <p:cNvPr id="363" name="Google Shape;363;p2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64" name="Google Shape;364;p26"/>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65" name="Google Shape;365;p26"/>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66" name="Google Shape;366;p26"/>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67" name="Google Shape;367;p26"/>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68" name="Google Shape;368;p26"/>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69" name="Google Shape;369;p26"/>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70" name="Google Shape;370;p26"/>
          <p:cNvGrpSpPr/>
          <p:nvPr/>
        </p:nvGrpSpPr>
        <p:grpSpPr>
          <a:xfrm>
            <a:off x="-601700" y="0"/>
            <a:ext cx="10705100" cy="4676150"/>
            <a:chOff x="-601700" y="0"/>
            <a:chExt cx="10705100" cy="4676150"/>
          </a:xfrm>
        </p:grpSpPr>
        <p:sp>
          <p:nvSpPr>
            <p:cNvPr id="371" name="Google Shape;371;p2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72" name="Google Shape;372;p26"/>
            <p:cNvGrpSpPr/>
            <p:nvPr/>
          </p:nvGrpSpPr>
          <p:grpSpPr>
            <a:xfrm rot="5400000">
              <a:off x="-2006450" y="1404750"/>
              <a:ext cx="4014600" cy="1205100"/>
              <a:chOff x="150" y="4543750"/>
              <a:chExt cx="4014600" cy="1205100"/>
            </a:xfrm>
          </p:grpSpPr>
          <p:sp>
            <p:nvSpPr>
              <p:cNvPr id="373" name="Google Shape;373;p2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74" name="Google Shape;374;p2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75" name="Google Shape;375;p26"/>
          <p:cNvGrpSpPr/>
          <p:nvPr/>
        </p:nvGrpSpPr>
        <p:grpSpPr>
          <a:xfrm>
            <a:off x="8206512" y="4230524"/>
            <a:ext cx="848365" cy="950159"/>
            <a:chOff x="41662" y="277999"/>
            <a:chExt cx="848365" cy="950159"/>
          </a:xfrm>
        </p:grpSpPr>
        <p:pic>
          <p:nvPicPr>
            <p:cNvPr id="376" name="Google Shape;376;p2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77" name="Google Shape;377;p2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78" name="Google Shape;378;p2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79" name="Shape 379"/>
        <p:cNvGrpSpPr/>
        <p:nvPr/>
      </p:nvGrpSpPr>
      <p:grpSpPr>
        <a:xfrm>
          <a:off x="0" y="0"/>
          <a:ext cx="0" cy="0"/>
          <a:chOff x="0" y="0"/>
          <a:chExt cx="0" cy="0"/>
        </a:xfrm>
      </p:grpSpPr>
      <p:pic>
        <p:nvPicPr>
          <p:cNvPr id="380" name="Google Shape;380;p2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81" name="Google Shape;381;p27"/>
          <p:cNvGrpSpPr/>
          <p:nvPr/>
        </p:nvGrpSpPr>
        <p:grpSpPr>
          <a:xfrm>
            <a:off x="-962824" y="-872075"/>
            <a:ext cx="10524450" cy="6436800"/>
            <a:chOff x="-962824" y="-872075"/>
            <a:chExt cx="10524450" cy="6436800"/>
          </a:xfrm>
        </p:grpSpPr>
        <p:sp>
          <p:nvSpPr>
            <p:cNvPr id="382" name="Google Shape;382;p27"/>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83" name="Google Shape;383;p27"/>
            <p:cNvGrpSpPr/>
            <p:nvPr/>
          </p:nvGrpSpPr>
          <p:grpSpPr>
            <a:xfrm flipH="1">
              <a:off x="502351" y="-872075"/>
              <a:ext cx="2489300" cy="1740000"/>
              <a:chOff x="6148925" y="-872075"/>
              <a:chExt cx="2489300" cy="1740000"/>
            </a:xfrm>
          </p:grpSpPr>
          <p:sp>
            <p:nvSpPr>
              <p:cNvPr id="384" name="Google Shape;384;p2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5" name="Google Shape;385;p2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86" name="Google Shape;386;p27"/>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7" name="Google Shape;387;p27"/>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8" name="Google Shape;388;p27"/>
          <p:cNvGrpSpPr/>
          <p:nvPr/>
        </p:nvGrpSpPr>
        <p:grpSpPr>
          <a:xfrm>
            <a:off x="-962825" y="81904"/>
            <a:ext cx="10251619" cy="5069347"/>
            <a:chOff x="-962825" y="81904"/>
            <a:chExt cx="10251619" cy="5069347"/>
          </a:xfrm>
        </p:grpSpPr>
        <p:pic>
          <p:nvPicPr>
            <p:cNvPr id="389" name="Google Shape;389;p27"/>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90" name="Google Shape;390;p27"/>
            <p:cNvGrpSpPr/>
            <p:nvPr/>
          </p:nvGrpSpPr>
          <p:grpSpPr>
            <a:xfrm flipH="1">
              <a:off x="7678302" y="4401391"/>
              <a:ext cx="1102438" cy="577167"/>
              <a:chOff x="359837" y="4401391"/>
              <a:chExt cx="1102438" cy="577167"/>
            </a:xfrm>
          </p:grpSpPr>
          <p:pic>
            <p:nvPicPr>
              <p:cNvPr id="391" name="Google Shape;391;p2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2" name="Google Shape;392;p2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93" name="Google Shape;393;p27"/>
            <p:cNvGrpSpPr/>
            <p:nvPr/>
          </p:nvGrpSpPr>
          <p:grpSpPr>
            <a:xfrm flipH="1">
              <a:off x="8100369" y="81904"/>
              <a:ext cx="1188426" cy="1227668"/>
              <a:chOff x="-7843" y="83454"/>
              <a:chExt cx="1188426" cy="1227668"/>
            </a:xfrm>
          </p:grpSpPr>
          <p:pic>
            <p:nvPicPr>
              <p:cNvPr id="394" name="Google Shape;394;p2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95" name="Google Shape;395;p2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96" name="Google Shape;396;p2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397" name="Google Shape;397;p27"/>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8" name="Google Shape;398;p27"/>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9" name="Google Shape;399;p27"/>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00" name="Shape 400"/>
        <p:cNvGrpSpPr/>
        <p:nvPr/>
      </p:nvGrpSpPr>
      <p:grpSpPr>
        <a:xfrm>
          <a:off x="0" y="0"/>
          <a:ext cx="0" cy="0"/>
          <a:chOff x="0" y="0"/>
          <a:chExt cx="0" cy="0"/>
        </a:xfrm>
      </p:grpSpPr>
      <p:pic>
        <p:nvPicPr>
          <p:cNvPr id="401" name="Google Shape;401;p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02" name="Google Shape;402;p28"/>
          <p:cNvGrpSpPr/>
          <p:nvPr/>
        </p:nvGrpSpPr>
        <p:grpSpPr>
          <a:xfrm>
            <a:off x="0" y="-613825"/>
            <a:ext cx="9564675" cy="6140950"/>
            <a:chOff x="0" y="-613825"/>
            <a:chExt cx="9564675" cy="6140950"/>
          </a:xfrm>
        </p:grpSpPr>
        <p:sp>
          <p:nvSpPr>
            <p:cNvPr id="403" name="Google Shape;403;p28"/>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4" name="Google Shape;404;p28"/>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5" name="Google Shape;405;p28"/>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06" name="Shape 406"/>
        <p:cNvGrpSpPr/>
        <p:nvPr/>
      </p:nvGrpSpPr>
      <p:grpSpPr>
        <a:xfrm>
          <a:off x="0" y="0"/>
          <a:ext cx="0" cy="0"/>
          <a:chOff x="0" y="0"/>
          <a:chExt cx="0" cy="0"/>
        </a:xfrm>
      </p:grpSpPr>
      <p:pic>
        <p:nvPicPr>
          <p:cNvPr id="407" name="Google Shape;407;p2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08" name="Google Shape;408;p29"/>
          <p:cNvGrpSpPr/>
          <p:nvPr/>
        </p:nvGrpSpPr>
        <p:grpSpPr>
          <a:xfrm>
            <a:off x="-601700" y="0"/>
            <a:ext cx="10358225" cy="5143500"/>
            <a:chOff x="-601700" y="0"/>
            <a:chExt cx="10358225" cy="5143500"/>
          </a:xfrm>
        </p:grpSpPr>
        <p:grpSp>
          <p:nvGrpSpPr>
            <p:cNvPr id="409" name="Google Shape;409;p29"/>
            <p:cNvGrpSpPr/>
            <p:nvPr/>
          </p:nvGrpSpPr>
          <p:grpSpPr>
            <a:xfrm rot="5400000">
              <a:off x="-2006450" y="1404750"/>
              <a:ext cx="4014600" cy="1205100"/>
              <a:chOff x="150" y="4543750"/>
              <a:chExt cx="4014600" cy="1205100"/>
            </a:xfrm>
          </p:grpSpPr>
          <p:sp>
            <p:nvSpPr>
              <p:cNvPr id="410" name="Google Shape;410;p2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1" name="Google Shape;411;p2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12" name="Google Shape;412;p29"/>
            <p:cNvGrpSpPr/>
            <p:nvPr/>
          </p:nvGrpSpPr>
          <p:grpSpPr>
            <a:xfrm rot="-5400000">
              <a:off x="7146675" y="2533650"/>
              <a:ext cx="4014600" cy="1205100"/>
              <a:chOff x="150" y="4543750"/>
              <a:chExt cx="4014600" cy="1205100"/>
            </a:xfrm>
          </p:grpSpPr>
          <p:sp>
            <p:nvSpPr>
              <p:cNvPr id="413" name="Google Shape;413;p29"/>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14" name="Google Shape;414;p29"/>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rtl="0">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hyperlink" Target="https://www.smithsonianmag.com/science-nature/the-whispering-trees-18096808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0"/>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n">
                <a:latin typeface="Unbounded ExtraBold"/>
                <a:ea typeface="Unbounded ExtraBold"/>
                <a:cs typeface="Unbounded ExtraBold"/>
                <a:sym typeface="Unbounded ExtraBold"/>
              </a:rPr>
              <a:t>Forest Ethics &amp; The Overstory</a:t>
            </a:r>
            <a:endParaRPr b="0" sz="2800"/>
          </a:p>
        </p:txBody>
      </p:sp>
      <p:sp>
        <p:nvSpPr>
          <p:cNvPr id="420" name="Google Shape;420;p30"/>
          <p:cNvSpPr txBox="1"/>
          <p:nvPr>
            <p:ph idx="1" type="subTitle"/>
          </p:nvPr>
        </p:nvSpPr>
        <p:spPr>
          <a:xfrm>
            <a:off x="1670700" y="3602688"/>
            <a:ext cx="5802600" cy="2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Author: Ritik Sarraf, Abby Maron and Parker Hayden</a:t>
            </a:r>
            <a:endParaRPr/>
          </a:p>
        </p:txBody>
      </p:sp>
      <p:cxnSp>
        <p:nvCxnSpPr>
          <p:cNvPr id="421" name="Google Shape;421;p30"/>
          <p:cNvCxnSpPr/>
          <p:nvPr/>
        </p:nvCxnSpPr>
        <p:spPr>
          <a:xfrm>
            <a:off x="1792350" y="3456500"/>
            <a:ext cx="5559300" cy="0"/>
          </a:xfrm>
          <a:prstGeom prst="straightConnector1">
            <a:avLst/>
          </a:prstGeom>
          <a:noFill/>
          <a:ln cap="flat" cmpd="sng" w="19050">
            <a:solidFill>
              <a:schemeClr val="lt2"/>
            </a:solidFill>
            <a:prstDash val="solid"/>
            <a:round/>
            <a:headEnd len="med" w="med" type="none"/>
            <a:tailEnd len="med" w="med" type="none"/>
          </a:ln>
        </p:spPr>
      </p:cxnSp>
      <p:cxnSp>
        <p:nvCxnSpPr>
          <p:cNvPr id="422" name="Google Shape;422;p30"/>
          <p:cNvCxnSpPr/>
          <p:nvPr/>
        </p:nvCxnSpPr>
        <p:spPr>
          <a:xfrm>
            <a:off x="1792350" y="1288800"/>
            <a:ext cx="5559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Idea</a:t>
            </a:r>
            <a:endParaRPr/>
          </a:p>
        </p:txBody>
      </p:sp>
      <p:sp>
        <p:nvSpPr>
          <p:cNvPr id="428" name="Google Shape;428;p31"/>
          <p:cNvSpPr txBox="1"/>
          <p:nvPr>
            <p:ph idx="1" type="subTitle"/>
          </p:nvPr>
        </p:nvSpPr>
        <p:spPr>
          <a:xfrm>
            <a:off x="4223125" y="11344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Plants, Plant Ethics, Forests, Forest Ethics</a:t>
            </a:r>
            <a:endParaRPr/>
          </a:p>
        </p:txBody>
      </p:sp>
      <p:sp>
        <p:nvSpPr>
          <p:cNvPr id="429" name="Google Shape;429;p31"/>
          <p:cNvSpPr txBox="1"/>
          <p:nvPr>
            <p:ph idx="3" type="subTitle"/>
          </p:nvPr>
        </p:nvSpPr>
        <p:spPr>
          <a:xfrm>
            <a:off x="1751501" y="11605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Introduction</a:t>
            </a:r>
            <a:endParaRPr sz="1400"/>
          </a:p>
        </p:txBody>
      </p:sp>
      <p:sp>
        <p:nvSpPr>
          <p:cNvPr id="430" name="Google Shape;430;p31"/>
          <p:cNvSpPr txBox="1"/>
          <p:nvPr>
            <p:ph idx="4" type="subTitle"/>
          </p:nvPr>
        </p:nvSpPr>
        <p:spPr>
          <a:xfrm>
            <a:off x="4223125" y="1698713"/>
            <a:ext cx="4110600" cy="46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Plant and Forest Ethics</a:t>
            </a:r>
            <a:endParaRPr/>
          </a:p>
        </p:txBody>
      </p:sp>
      <p:sp>
        <p:nvSpPr>
          <p:cNvPr id="431" name="Google Shape;431;p31"/>
          <p:cNvSpPr txBox="1"/>
          <p:nvPr>
            <p:ph idx="5" type="title"/>
          </p:nvPr>
        </p:nvSpPr>
        <p:spPr>
          <a:xfrm>
            <a:off x="778575" y="1821800"/>
            <a:ext cx="640800" cy="34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02</a:t>
            </a:r>
            <a:endParaRPr sz="1200"/>
          </a:p>
        </p:txBody>
      </p:sp>
      <p:sp>
        <p:nvSpPr>
          <p:cNvPr id="432" name="Google Shape;432;p31"/>
          <p:cNvSpPr txBox="1"/>
          <p:nvPr>
            <p:ph idx="6" type="subTitle"/>
          </p:nvPr>
        </p:nvSpPr>
        <p:spPr>
          <a:xfrm>
            <a:off x="1751501" y="1659900"/>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Ecological Relationship</a:t>
            </a:r>
            <a:endParaRPr sz="1400"/>
          </a:p>
        </p:txBody>
      </p:sp>
      <p:sp>
        <p:nvSpPr>
          <p:cNvPr id="433" name="Google Shape;433;p31"/>
          <p:cNvSpPr txBox="1"/>
          <p:nvPr>
            <p:ph idx="7" type="subTitle"/>
          </p:nvPr>
        </p:nvSpPr>
        <p:spPr>
          <a:xfrm>
            <a:off x="4223125" y="2259050"/>
            <a:ext cx="4110600" cy="64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Biocentrists, Anthropocentrists, and Sentientists</a:t>
            </a:r>
            <a:endParaRPr/>
          </a:p>
        </p:txBody>
      </p:sp>
      <p:sp>
        <p:nvSpPr>
          <p:cNvPr id="434" name="Google Shape;434;p31"/>
          <p:cNvSpPr txBox="1"/>
          <p:nvPr>
            <p:ph idx="8" type="title"/>
          </p:nvPr>
        </p:nvSpPr>
        <p:spPr>
          <a:xfrm>
            <a:off x="777150" y="2397688"/>
            <a:ext cx="640800" cy="34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03</a:t>
            </a:r>
            <a:endParaRPr sz="1200"/>
          </a:p>
        </p:txBody>
      </p:sp>
      <p:sp>
        <p:nvSpPr>
          <p:cNvPr id="435" name="Google Shape;435;p31"/>
          <p:cNvSpPr txBox="1"/>
          <p:nvPr>
            <p:ph idx="9" type="subTitle"/>
          </p:nvPr>
        </p:nvSpPr>
        <p:spPr>
          <a:xfrm>
            <a:off x="1751501" y="22845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View Points</a:t>
            </a:r>
            <a:endParaRPr sz="1400"/>
          </a:p>
        </p:txBody>
      </p:sp>
      <p:sp>
        <p:nvSpPr>
          <p:cNvPr id="436" name="Google Shape;436;p31"/>
          <p:cNvSpPr txBox="1"/>
          <p:nvPr>
            <p:ph idx="13" type="subTitle"/>
          </p:nvPr>
        </p:nvSpPr>
        <p:spPr>
          <a:xfrm>
            <a:off x="4223125" y="2931138"/>
            <a:ext cx="4110600" cy="52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Causes, Replaceability of conscious and non-conscious creatures</a:t>
            </a:r>
            <a:endParaRPr/>
          </a:p>
        </p:txBody>
      </p:sp>
      <p:sp>
        <p:nvSpPr>
          <p:cNvPr id="437" name="Google Shape;437;p31"/>
          <p:cNvSpPr txBox="1"/>
          <p:nvPr>
            <p:ph idx="14" type="title"/>
          </p:nvPr>
        </p:nvSpPr>
        <p:spPr>
          <a:xfrm>
            <a:off x="778575" y="2973600"/>
            <a:ext cx="640800" cy="26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04</a:t>
            </a:r>
            <a:endParaRPr sz="1200"/>
          </a:p>
        </p:txBody>
      </p:sp>
      <p:sp>
        <p:nvSpPr>
          <p:cNvPr id="438" name="Google Shape;438;p31"/>
          <p:cNvSpPr txBox="1"/>
          <p:nvPr>
            <p:ph idx="15" type="subTitle"/>
          </p:nvPr>
        </p:nvSpPr>
        <p:spPr>
          <a:xfrm>
            <a:off x="1751501" y="28838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Extinction of Species</a:t>
            </a:r>
            <a:endParaRPr sz="1400"/>
          </a:p>
        </p:txBody>
      </p:sp>
      <p:cxnSp>
        <p:nvCxnSpPr>
          <p:cNvPr id="439" name="Google Shape;439;p31"/>
          <p:cNvCxnSpPr/>
          <p:nvPr/>
        </p:nvCxnSpPr>
        <p:spPr>
          <a:xfrm>
            <a:off x="3959725" y="1780150"/>
            <a:ext cx="7500" cy="332400"/>
          </a:xfrm>
          <a:prstGeom prst="straightConnector1">
            <a:avLst/>
          </a:prstGeom>
          <a:noFill/>
          <a:ln cap="flat" cmpd="sng" w="19050">
            <a:solidFill>
              <a:schemeClr val="lt2"/>
            </a:solidFill>
            <a:prstDash val="solid"/>
            <a:round/>
            <a:headEnd len="med" w="med" type="none"/>
            <a:tailEnd len="med" w="med" type="none"/>
          </a:ln>
        </p:spPr>
      </p:cxnSp>
      <p:sp>
        <p:nvSpPr>
          <p:cNvPr id="440" name="Google Shape;440;p31"/>
          <p:cNvSpPr txBox="1"/>
          <p:nvPr>
            <p:ph idx="14" type="title"/>
          </p:nvPr>
        </p:nvSpPr>
        <p:spPr>
          <a:xfrm>
            <a:off x="777150" y="3470000"/>
            <a:ext cx="640800" cy="26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05</a:t>
            </a:r>
            <a:endParaRPr sz="1200"/>
          </a:p>
        </p:txBody>
      </p:sp>
      <p:sp>
        <p:nvSpPr>
          <p:cNvPr id="441" name="Google Shape;441;p31"/>
          <p:cNvSpPr txBox="1"/>
          <p:nvPr>
            <p:ph idx="15" type="subTitle"/>
          </p:nvPr>
        </p:nvSpPr>
        <p:spPr>
          <a:xfrm>
            <a:off x="1751500" y="3408475"/>
            <a:ext cx="2282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Renewable Resources</a:t>
            </a:r>
            <a:endParaRPr sz="1400"/>
          </a:p>
        </p:txBody>
      </p:sp>
      <p:sp>
        <p:nvSpPr>
          <p:cNvPr id="442" name="Google Shape;442;p31"/>
          <p:cNvSpPr txBox="1"/>
          <p:nvPr>
            <p:ph idx="13" type="subTitle"/>
          </p:nvPr>
        </p:nvSpPr>
        <p:spPr>
          <a:xfrm>
            <a:off x="4223125" y="34832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Global Efforts to save forest, Impacts</a:t>
            </a:r>
            <a:endParaRPr/>
          </a:p>
        </p:txBody>
      </p:sp>
      <p:sp>
        <p:nvSpPr>
          <p:cNvPr id="443" name="Google Shape;443;p31"/>
          <p:cNvSpPr txBox="1"/>
          <p:nvPr>
            <p:ph idx="5" type="title"/>
          </p:nvPr>
        </p:nvSpPr>
        <p:spPr>
          <a:xfrm>
            <a:off x="777150" y="1189938"/>
            <a:ext cx="640800" cy="34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01</a:t>
            </a:r>
            <a:endParaRPr sz="1200"/>
          </a:p>
        </p:txBody>
      </p:sp>
      <p:sp>
        <p:nvSpPr>
          <p:cNvPr id="444" name="Google Shape;444;p31"/>
          <p:cNvSpPr txBox="1"/>
          <p:nvPr/>
        </p:nvSpPr>
        <p:spPr>
          <a:xfrm>
            <a:off x="1771250" y="3998925"/>
            <a:ext cx="21000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Unbounded"/>
                <a:ea typeface="Unbounded"/>
                <a:cs typeface="Unbounded"/>
                <a:sym typeface="Unbounded"/>
              </a:rPr>
              <a:t>The Overstory </a:t>
            </a:r>
            <a:endParaRPr b="1">
              <a:solidFill>
                <a:schemeClr val="dk1"/>
              </a:solidFill>
              <a:latin typeface="Unbounded"/>
              <a:ea typeface="Unbounded"/>
              <a:cs typeface="Unbounded"/>
              <a:sym typeface="Unbounded"/>
            </a:endParaRPr>
          </a:p>
        </p:txBody>
      </p:sp>
      <p:sp>
        <p:nvSpPr>
          <p:cNvPr id="445" name="Google Shape;445;p31"/>
          <p:cNvSpPr txBox="1"/>
          <p:nvPr>
            <p:ph idx="14" type="title"/>
          </p:nvPr>
        </p:nvSpPr>
        <p:spPr>
          <a:xfrm>
            <a:off x="778575" y="4045900"/>
            <a:ext cx="640800" cy="26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06</a:t>
            </a:r>
            <a:endParaRPr sz="1200"/>
          </a:p>
        </p:txBody>
      </p:sp>
      <p:cxnSp>
        <p:nvCxnSpPr>
          <p:cNvPr id="446" name="Google Shape;446;p31"/>
          <p:cNvCxnSpPr/>
          <p:nvPr/>
        </p:nvCxnSpPr>
        <p:spPr>
          <a:xfrm>
            <a:off x="3959725" y="1172613"/>
            <a:ext cx="7500" cy="332400"/>
          </a:xfrm>
          <a:prstGeom prst="straightConnector1">
            <a:avLst/>
          </a:prstGeom>
          <a:noFill/>
          <a:ln cap="flat" cmpd="sng" w="19050">
            <a:solidFill>
              <a:schemeClr val="lt2"/>
            </a:solidFill>
            <a:prstDash val="solid"/>
            <a:round/>
            <a:headEnd len="med" w="med" type="none"/>
            <a:tailEnd len="med" w="med" type="none"/>
          </a:ln>
        </p:spPr>
      </p:cxnSp>
      <p:sp>
        <p:nvSpPr>
          <p:cNvPr id="447" name="Google Shape;447;p31"/>
          <p:cNvSpPr txBox="1"/>
          <p:nvPr/>
        </p:nvSpPr>
        <p:spPr>
          <a:xfrm>
            <a:off x="4216900" y="3958200"/>
            <a:ext cx="41106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Patricia Westerford’s tree communication story </a:t>
            </a:r>
            <a:endParaRPr sz="1500">
              <a:solidFill>
                <a:schemeClr val="dk1"/>
              </a:solidFill>
              <a:latin typeface="Spinnaker"/>
              <a:ea typeface="Spinnaker"/>
              <a:cs typeface="Spinnaker"/>
              <a:sym typeface="Spinnaker"/>
            </a:endParaRPr>
          </a:p>
        </p:txBody>
      </p:sp>
      <p:cxnSp>
        <p:nvCxnSpPr>
          <p:cNvPr id="448" name="Google Shape;448;p31"/>
          <p:cNvCxnSpPr/>
          <p:nvPr/>
        </p:nvCxnSpPr>
        <p:spPr>
          <a:xfrm>
            <a:off x="3959725" y="2405550"/>
            <a:ext cx="7500" cy="332400"/>
          </a:xfrm>
          <a:prstGeom prst="straightConnector1">
            <a:avLst/>
          </a:prstGeom>
          <a:noFill/>
          <a:ln cap="flat" cmpd="sng" w="19050">
            <a:solidFill>
              <a:schemeClr val="lt2"/>
            </a:solidFill>
            <a:prstDash val="solid"/>
            <a:round/>
            <a:headEnd len="med" w="med" type="none"/>
            <a:tailEnd len="med" w="med" type="none"/>
          </a:ln>
        </p:spPr>
      </p:cxnSp>
      <p:cxnSp>
        <p:nvCxnSpPr>
          <p:cNvPr id="449" name="Google Shape;449;p31"/>
          <p:cNvCxnSpPr/>
          <p:nvPr/>
        </p:nvCxnSpPr>
        <p:spPr>
          <a:xfrm>
            <a:off x="3959725" y="2941475"/>
            <a:ext cx="7500" cy="332400"/>
          </a:xfrm>
          <a:prstGeom prst="straightConnector1">
            <a:avLst/>
          </a:prstGeom>
          <a:noFill/>
          <a:ln cap="flat" cmpd="sng" w="19050">
            <a:solidFill>
              <a:schemeClr val="lt2"/>
            </a:solidFill>
            <a:prstDash val="solid"/>
            <a:round/>
            <a:headEnd len="med" w="med" type="none"/>
            <a:tailEnd len="med" w="med" type="none"/>
          </a:ln>
        </p:spPr>
      </p:cxnSp>
      <p:cxnSp>
        <p:nvCxnSpPr>
          <p:cNvPr id="450" name="Google Shape;450;p31"/>
          <p:cNvCxnSpPr/>
          <p:nvPr/>
        </p:nvCxnSpPr>
        <p:spPr>
          <a:xfrm>
            <a:off x="3952225" y="3540825"/>
            <a:ext cx="7500" cy="332400"/>
          </a:xfrm>
          <a:prstGeom prst="straightConnector1">
            <a:avLst/>
          </a:prstGeom>
          <a:noFill/>
          <a:ln cap="flat" cmpd="sng" w="19050">
            <a:solidFill>
              <a:schemeClr val="lt2"/>
            </a:solidFill>
            <a:prstDash val="solid"/>
            <a:round/>
            <a:headEnd len="med" w="med" type="none"/>
            <a:tailEnd len="med" w="med" type="none"/>
          </a:ln>
        </p:spPr>
      </p:cxnSp>
      <p:cxnSp>
        <p:nvCxnSpPr>
          <p:cNvPr id="451" name="Google Shape;451;p31"/>
          <p:cNvCxnSpPr/>
          <p:nvPr/>
        </p:nvCxnSpPr>
        <p:spPr>
          <a:xfrm>
            <a:off x="3959725" y="4056525"/>
            <a:ext cx="7500" cy="33240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txBox="1"/>
          <p:nvPr>
            <p:ph type="title"/>
          </p:nvPr>
        </p:nvSpPr>
        <p:spPr>
          <a:xfrm>
            <a:off x="1649850" y="303875"/>
            <a:ext cx="5844300" cy="1002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How Plants differ from Forests?</a:t>
            </a:r>
            <a:endParaRPr sz="2900"/>
          </a:p>
        </p:txBody>
      </p:sp>
      <p:sp>
        <p:nvSpPr>
          <p:cNvPr id="457" name="Google Shape;457;p32"/>
          <p:cNvSpPr txBox="1"/>
          <p:nvPr>
            <p:ph idx="1" type="subTitle"/>
          </p:nvPr>
        </p:nvSpPr>
        <p:spPr>
          <a:xfrm>
            <a:off x="1328075" y="1647400"/>
            <a:ext cx="6674100" cy="24831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Forest includes more than sum of their </a:t>
            </a:r>
            <a:r>
              <a:rPr lang="en"/>
              <a:t>constituent</a:t>
            </a:r>
            <a:r>
              <a:rPr lang="en"/>
              <a:t> plants and constituent living members</a:t>
            </a:r>
            <a:endParaRPr/>
          </a:p>
          <a:p>
            <a:pPr indent="-317500" lvl="0" marL="457200" rtl="0" algn="l">
              <a:lnSpc>
                <a:spcPct val="100000"/>
              </a:lnSpc>
              <a:spcBef>
                <a:spcPts val="0"/>
              </a:spcBef>
              <a:spcAft>
                <a:spcPts val="0"/>
              </a:spcAft>
              <a:buSzPts val="1400"/>
              <a:buChar char="●"/>
            </a:pPr>
            <a:r>
              <a:rPr lang="en"/>
              <a:t>Exercise influence that would not be the case if individual trees were situated in isolation</a:t>
            </a:r>
            <a:endParaRPr/>
          </a:p>
          <a:p>
            <a:pPr indent="-317500" lvl="0" marL="457200" rtl="0" algn="l">
              <a:lnSpc>
                <a:spcPct val="100000"/>
              </a:lnSpc>
              <a:spcBef>
                <a:spcPts val="0"/>
              </a:spcBef>
              <a:spcAft>
                <a:spcPts val="0"/>
              </a:spcAft>
              <a:buSzPts val="1400"/>
              <a:buChar char="●"/>
            </a:pPr>
            <a:r>
              <a:rPr lang="en"/>
              <a:t>Forests act as watersheds, absorbing rainfall, stimulants of rainfall, forms of precipitation</a:t>
            </a:r>
            <a:endParaRPr/>
          </a:p>
          <a:p>
            <a:pPr indent="-317500" lvl="0" marL="457200" rtl="0" algn="l">
              <a:lnSpc>
                <a:spcPct val="100000"/>
              </a:lnSpc>
              <a:spcBef>
                <a:spcPts val="0"/>
              </a:spcBef>
              <a:spcAft>
                <a:spcPts val="0"/>
              </a:spcAft>
              <a:buSzPts val="1400"/>
              <a:buChar char="●"/>
            </a:pPr>
            <a:r>
              <a:rPr lang="en"/>
              <a:t>Holds capability to modify climate of the lands</a:t>
            </a:r>
            <a:endParaRPr/>
          </a:p>
          <a:p>
            <a:pPr indent="-317500" lvl="0" marL="457200" rtl="0" algn="l">
              <a:lnSpc>
                <a:spcPct val="100000"/>
              </a:lnSpc>
              <a:spcBef>
                <a:spcPts val="0"/>
              </a:spcBef>
              <a:spcAft>
                <a:spcPts val="0"/>
              </a:spcAft>
              <a:buSzPts val="1400"/>
              <a:buChar char="●"/>
            </a:pPr>
            <a:r>
              <a:rPr lang="en"/>
              <a:t>Forests supply h</a:t>
            </a:r>
            <a:r>
              <a:rPr lang="en"/>
              <a:t>a</a:t>
            </a:r>
            <a:r>
              <a:rPr lang="en"/>
              <a:t>bitats for </a:t>
            </a:r>
            <a:r>
              <a:rPr lang="en"/>
              <a:t>reproduction</a:t>
            </a:r>
            <a:r>
              <a:rPr lang="en"/>
              <a:t> and growth to native species and others</a:t>
            </a:r>
            <a:endParaRPr/>
          </a:p>
        </p:txBody>
      </p:sp>
      <p:cxnSp>
        <p:nvCxnSpPr>
          <p:cNvPr id="458" name="Google Shape;458;p32"/>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3"/>
          <p:cNvSpPr txBox="1"/>
          <p:nvPr>
            <p:ph type="title"/>
          </p:nvPr>
        </p:nvSpPr>
        <p:spPr>
          <a:xfrm>
            <a:off x="1649850" y="635725"/>
            <a:ext cx="57090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What is Plant Ethics?</a:t>
            </a:r>
            <a:endParaRPr sz="2900"/>
          </a:p>
        </p:txBody>
      </p:sp>
      <p:sp>
        <p:nvSpPr>
          <p:cNvPr id="464" name="Google Shape;464;p33"/>
          <p:cNvSpPr txBox="1"/>
          <p:nvPr>
            <p:ph idx="1" type="subTitle"/>
          </p:nvPr>
        </p:nvSpPr>
        <p:spPr>
          <a:xfrm>
            <a:off x="1316825" y="1605350"/>
            <a:ext cx="6843000" cy="2862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Includes life processes of plants life-cycle (live, thrive and die) in large assemblages</a:t>
            </a:r>
            <a:endParaRPr/>
          </a:p>
          <a:p>
            <a:pPr indent="-317500" lvl="0" marL="457200" rtl="0" algn="l">
              <a:spcBef>
                <a:spcPts val="0"/>
              </a:spcBef>
              <a:spcAft>
                <a:spcPts val="0"/>
              </a:spcAft>
              <a:buSzPts val="1400"/>
              <a:buChar char="●"/>
            </a:pPr>
            <a:r>
              <a:rPr lang="en"/>
              <a:t>Consider benefits and the harms that befall plants and how humans shall treat them</a:t>
            </a:r>
            <a:endParaRPr/>
          </a:p>
          <a:p>
            <a:pPr indent="-317500" lvl="0" marL="457200" rtl="0" algn="l">
              <a:spcBef>
                <a:spcPts val="0"/>
              </a:spcBef>
              <a:spcAft>
                <a:spcPts val="0"/>
              </a:spcAft>
              <a:buSzPts val="1400"/>
              <a:buChar char="●"/>
            </a:pPr>
            <a:r>
              <a:rPr lang="en"/>
              <a:t>Few other main assemblages of trees forest:</a:t>
            </a:r>
            <a:endParaRPr/>
          </a:p>
          <a:p>
            <a:pPr indent="0" lvl="0" marL="457200" rtl="0" algn="l">
              <a:spcBef>
                <a:spcPts val="0"/>
              </a:spcBef>
              <a:spcAft>
                <a:spcPts val="0"/>
              </a:spcAft>
              <a:buNone/>
            </a:pPr>
            <a:r>
              <a:rPr lang="en" sz="1300"/>
              <a:t>I.  Bring plants to regular use,</a:t>
            </a:r>
            <a:endParaRPr sz="1300"/>
          </a:p>
          <a:p>
            <a:pPr indent="0" lvl="0" marL="457200" rtl="0" algn="l">
              <a:spcBef>
                <a:spcPts val="0"/>
              </a:spcBef>
              <a:spcAft>
                <a:spcPts val="0"/>
              </a:spcAft>
              <a:buNone/>
            </a:pPr>
            <a:r>
              <a:rPr lang="en" sz="1300"/>
              <a:t>II.  Leave plants alone or untreated</a:t>
            </a:r>
            <a:endParaRPr sz="1300"/>
          </a:p>
          <a:p>
            <a:pPr indent="0" lvl="0" marL="457200" rtl="0" algn="l">
              <a:spcBef>
                <a:spcPts val="0"/>
              </a:spcBef>
              <a:spcAft>
                <a:spcPts val="0"/>
              </a:spcAft>
              <a:buNone/>
            </a:pPr>
            <a:r>
              <a:rPr lang="en" sz="1300"/>
              <a:t>III. Increase in number of befall plants relates to human act</a:t>
            </a:r>
            <a:endParaRPr sz="1300"/>
          </a:p>
          <a:p>
            <a:pPr indent="-317500" lvl="0" marL="457200" rtl="0" algn="l">
              <a:lnSpc>
                <a:spcPct val="100000"/>
              </a:lnSpc>
              <a:spcBef>
                <a:spcPts val="0"/>
              </a:spcBef>
              <a:spcAft>
                <a:spcPts val="0"/>
              </a:spcAft>
              <a:buSzPts val="1400"/>
              <a:buChar char="●"/>
            </a:pPr>
            <a:r>
              <a:rPr lang="en"/>
              <a:t>The conflicting views on whether forests are to be considered as resources and only resources are also part of plant ethics?</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cxnSp>
        <p:nvCxnSpPr>
          <p:cNvPr id="465" name="Google Shape;465;p33"/>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4"/>
          <p:cNvSpPr txBox="1"/>
          <p:nvPr>
            <p:ph type="title"/>
          </p:nvPr>
        </p:nvSpPr>
        <p:spPr>
          <a:xfrm>
            <a:off x="1649850" y="635725"/>
            <a:ext cx="57090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What is Forest Ethics?</a:t>
            </a:r>
            <a:endParaRPr sz="2900"/>
          </a:p>
        </p:txBody>
      </p:sp>
      <p:sp>
        <p:nvSpPr>
          <p:cNvPr id="471" name="Google Shape;471;p34"/>
          <p:cNvSpPr txBox="1"/>
          <p:nvPr>
            <p:ph idx="1" type="subTitle"/>
          </p:nvPr>
        </p:nvSpPr>
        <p:spPr>
          <a:xfrm>
            <a:off x="1049250" y="1470275"/>
            <a:ext cx="7045500" cy="34257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Consider all those areas of human activity that intersects with woods and forests including justification, rightful extent and character</a:t>
            </a:r>
            <a:endParaRPr/>
          </a:p>
          <a:p>
            <a:pPr indent="0" lvl="0" marL="0" rtl="0" algn="l">
              <a:lnSpc>
                <a:spcPct val="100000"/>
              </a:lnSpc>
              <a:spcBef>
                <a:spcPts val="0"/>
              </a:spcBef>
              <a:spcAft>
                <a:spcPts val="0"/>
              </a:spcAft>
              <a:buNone/>
            </a:pPr>
            <a:r>
              <a:rPr b="1" lang="en"/>
              <a:t>Arguments:</a:t>
            </a:r>
            <a:endParaRPr b="1"/>
          </a:p>
          <a:p>
            <a:pPr indent="-317500" lvl="0" marL="457200" rtl="0" algn="l">
              <a:lnSpc>
                <a:spcPct val="100000"/>
              </a:lnSpc>
              <a:spcBef>
                <a:spcPts val="0"/>
              </a:spcBef>
              <a:spcAft>
                <a:spcPts val="0"/>
              </a:spcAft>
              <a:buSzPts val="1400"/>
              <a:buChar char="●"/>
            </a:pPr>
            <a:r>
              <a:rPr lang="en"/>
              <a:t>Attfield argues that “Not all plant ethics are part of forest ethics.”</a:t>
            </a:r>
            <a:endParaRPr/>
          </a:p>
          <a:p>
            <a:pPr indent="0" lvl="0" marL="457200" rtl="0" algn="l">
              <a:lnSpc>
                <a:spcPct val="100000"/>
              </a:lnSpc>
              <a:spcBef>
                <a:spcPts val="0"/>
              </a:spcBef>
              <a:spcAft>
                <a:spcPts val="0"/>
              </a:spcAft>
              <a:buNone/>
            </a:pPr>
            <a:r>
              <a:rPr lang="en" sz="1300"/>
              <a:t>I. </a:t>
            </a:r>
            <a:r>
              <a:rPr lang="en" sz="1300"/>
              <a:t>Some conflicting issues such as the well-being of plants are relevant to both forest plants and non-forest plants. Eg. home gardens, fields, rivers, lakes, botanical gardens and parks.</a:t>
            </a:r>
            <a:endParaRPr sz="1300"/>
          </a:p>
          <a:p>
            <a:pPr indent="0" lvl="0" marL="457200" rtl="0" algn="l">
              <a:lnSpc>
                <a:spcPct val="100000"/>
              </a:lnSpc>
              <a:spcBef>
                <a:spcPts val="0"/>
              </a:spcBef>
              <a:spcAft>
                <a:spcPts val="0"/>
              </a:spcAft>
              <a:buNone/>
            </a:pPr>
            <a:r>
              <a:t/>
            </a:r>
            <a:endParaRPr sz="1300"/>
          </a:p>
          <a:p>
            <a:pPr indent="-317500" lvl="0" marL="457200" rtl="0" algn="l">
              <a:lnSpc>
                <a:spcPct val="100000"/>
              </a:lnSpc>
              <a:spcBef>
                <a:spcPts val="0"/>
              </a:spcBef>
              <a:spcAft>
                <a:spcPts val="0"/>
              </a:spcAft>
              <a:buSzPts val="1400"/>
              <a:buChar char="●"/>
            </a:pPr>
            <a:r>
              <a:rPr lang="en"/>
              <a:t>Attfield argues that “Not all forests ethics are part of plant ethics.”</a:t>
            </a:r>
            <a:endParaRPr/>
          </a:p>
          <a:p>
            <a:pPr indent="0" lvl="0" marL="457200" rtl="0" algn="l">
              <a:lnSpc>
                <a:spcPct val="100000"/>
              </a:lnSpc>
              <a:spcBef>
                <a:spcPts val="0"/>
              </a:spcBef>
              <a:spcAft>
                <a:spcPts val="0"/>
              </a:spcAft>
              <a:buNone/>
            </a:pPr>
            <a:r>
              <a:rPr lang="en" sz="1300"/>
              <a:t>I. Some branches of forest ethics concern the exploitation of forest products (eg. rubber and brazil nuts)</a:t>
            </a:r>
            <a:endParaRPr sz="1300"/>
          </a:p>
          <a:p>
            <a:pPr indent="0" lvl="0" marL="457200" rtl="0" algn="l">
              <a:lnSpc>
                <a:spcPct val="100000"/>
              </a:lnSpc>
              <a:spcBef>
                <a:spcPts val="0"/>
              </a:spcBef>
              <a:spcAft>
                <a:spcPts val="0"/>
              </a:spcAft>
              <a:buNone/>
            </a:pPr>
            <a:r>
              <a:rPr lang="en" sz="1300"/>
              <a:t>II. Preservation of animal forest species</a:t>
            </a:r>
            <a:endParaRPr sz="1300"/>
          </a:p>
        </p:txBody>
      </p:sp>
      <p:cxnSp>
        <p:nvCxnSpPr>
          <p:cNvPr id="472" name="Google Shape;472;p34"/>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txBox="1"/>
          <p:nvPr>
            <p:ph type="title"/>
          </p:nvPr>
        </p:nvSpPr>
        <p:spPr>
          <a:xfrm>
            <a:off x="1649850" y="635725"/>
            <a:ext cx="57090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Relationship between Plant and Forest Ethics</a:t>
            </a:r>
            <a:endParaRPr sz="2900"/>
          </a:p>
        </p:txBody>
      </p:sp>
      <p:sp>
        <p:nvSpPr>
          <p:cNvPr id="478" name="Google Shape;478;p35"/>
          <p:cNvSpPr txBox="1"/>
          <p:nvPr>
            <p:ph idx="1" type="subTitle"/>
          </p:nvPr>
        </p:nvSpPr>
        <p:spPr>
          <a:xfrm>
            <a:off x="1049250" y="1470275"/>
            <a:ext cx="7045500" cy="34257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It would irrelevant to share that issues related to the ethics of forestry are not connected to plant ethics.</a:t>
            </a:r>
            <a:endParaRPr/>
          </a:p>
          <a:p>
            <a:pPr indent="0" lvl="0" marL="457200" rtl="0" algn="l">
              <a:lnSpc>
                <a:spcPct val="100000"/>
              </a:lnSpc>
              <a:spcBef>
                <a:spcPts val="0"/>
              </a:spcBef>
              <a:spcAft>
                <a:spcPts val="0"/>
              </a:spcAft>
              <a:buNone/>
            </a:pPr>
            <a:r>
              <a:t/>
            </a:r>
            <a:endParaRPr/>
          </a:p>
          <a:p>
            <a:pPr indent="-317500" lvl="0" marL="457200" rtl="0" algn="l">
              <a:lnSpc>
                <a:spcPct val="100000"/>
              </a:lnSpc>
              <a:spcBef>
                <a:spcPts val="0"/>
              </a:spcBef>
              <a:spcAft>
                <a:spcPts val="0"/>
              </a:spcAft>
              <a:buSzPts val="1400"/>
              <a:buChar char="●"/>
            </a:pPr>
            <a:r>
              <a:rPr lang="en"/>
              <a:t>Issues relating to cutting down and uprooting of trees that undermines the value of existing ones.</a:t>
            </a:r>
            <a:endParaRPr/>
          </a:p>
          <a:p>
            <a:pPr indent="0" lvl="0" marL="457200" rtl="0" algn="l">
              <a:lnSpc>
                <a:spcPct val="100000"/>
              </a:lnSpc>
              <a:spcBef>
                <a:spcPts val="0"/>
              </a:spcBef>
              <a:spcAft>
                <a:spcPts val="0"/>
              </a:spcAft>
              <a:buNone/>
            </a:pPr>
            <a:r>
              <a:t/>
            </a:r>
            <a:endParaRPr/>
          </a:p>
          <a:p>
            <a:pPr indent="-317500" lvl="0" marL="457200" rtl="0" algn="l">
              <a:lnSpc>
                <a:spcPct val="100000"/>
              </a:lnSpc>
              <a:spcBef>
                <a:spcPts val="0"/>
              </a:spcBef>
              <a:spcAft>
                <a:spcPts val="0"/>
              </a:spcAft>
              <a:buSzPts val="1400"/>
              <a:buChar char="●"/>
            </a:pPr>
            <a:r>
              <a:rPr lang="en"/>
              <a:t>These issues often need to be considered together if defensible overall judgments on issues such as deforestation and reforestation are brought up.</a:t>
            </a:r>
            <a:endParaRPr/>
          </a:p>
        </p:txBody>
      </p:sp>
      <p:cxnSp>
        <p:nvCxnSpPr>
          <p:cNvPr id="479" name="Google Shape;479;p35"/>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6"/>
          <p:cNvSpPr txBox="1"/>
          <p:nvPr>
            <p:ph type="title"/>
          </p:nvPr>
        </p:nvSpPr>
        <p:spPr>
          <a:xfrm>
            <a:off x="945425" y="635725"/>
            <a:ext cx="71493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Biocentric</a:t>
            </a:r>
            <a:r>
              <a:rPr lang="en" sz="2900"/>
              <a:t> stance in Ethics</a:t>
            </a:r>
            <a:endParaRPr sz="2900"/>
          </a:p>
        </p:txBody>
      </p:sp>
      <p:sp>
        <p:nvSpPr>
          <p:cNvPr id="485" name="Google Shape;485;p36"/>
          <p:cNvSpPr txBox="1"/>
          <p:nvPr>
            <p:ph idx="1" type="subTitle"/>
          </p:nvPr>
        </p:nvSpPr>
        <p:spPr>
          <a:xfrm>
            <a:off x="1049250" y="1470275"/>
            <a:ext cx="7045500" cy="34257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It </a:t>
            </a:r>
            <a:r>
              <a:rPr lang="en"/>
              <a:t>considers</a:t>
            </a:r>
            <a:r>
              <a:rPr lang="en"/>
              <a:t> trees has intrinsic value as it have good of their own.</a:t>
            </a:r>
            <a:endParaRPr/>
          </a:p>
          <a:p>
            <a:pPr indent="-317500" lvl="0" marL="457200" rtl="0" algn="l">
              <a:lnSpc>
                <a:spcPct val="100000"/>
              </a:lnSpc>
              <a:spcBef>
                <a:spcPts val="0"/>
              </a:spcBef>
              <a:spcAft>
                <a:spcPts val="0"/>
              </a:spcAft>
              <a:buSzPts val="1400"/>
              <a:buChar char="●"/>
            </a:pPr>
            <a:r>
              <a:rPr lang="en"/>
              <a:t>Attfield (biocentrist) argues that the trees and its </a:t>
            </a:r>
            <a:r>
              <a:rPr lang="en"/>
              <a:t>interests</a:t>
            </a:r>
            <a:r>
              <a:rPr lang="en"/>
              <a:t> shall be factored in </a:t>
            </a:r>
            <a:r>
              <a:rPr lang="en"/>
              <a:t>decision</a:t>
            </a:r>
            <a:r>
              <a:rPr lang="en"/>
              <a:t>-making.</a:t>
            </a:r>
            <a:endParaRPr/>
          </a:p>
          <a:p>
            <a:pPr indent="-317500" lvl="0" marL="457200" rtl="0" algn="l">
              <a:lnSpc>
                <a:spcPct val="100000"/>
              </a:lnSpc>
              <a:spcBef>
                <a:spcPts val="0"/>
              </a:spcBef>
              <a:spcAft>
                <a:spcPts val="0"/>
              </a:spcAft>
              <a:buSzPts val="1400"/>
              <a:buChar char="●"/>
            </a:pPr>
            <a:r>
              <a:rPr lang="en"/>
              <a:t>Biocentrist </a:t>
            </a:r>
            <a:r>
              <a:rPr lang="en"/>
              <a:t>approach</a:t>
            </a:r>
            <a:r>
              <a:rPr lang="en"/>
              <a:t> accounts for arising concern for individual trees and some in danger of being burned or chopped, </a:t>
            </a:r>
            <a:endParaRPr/>
          </a:p>
          <a:p>
            <a:pPr indent="-317500" lvl="0" marL="457200" rtl="0" algn="l">
              <a:lnSpc>
                <a:spcPct val="100000"/>
              </a:lnSpc>
              <a:spcBef>
                <a:spcPts val="0"/>
              </a:spcBef>
              <a:spcAft>
                <a:spcPts val="0"/>
              </a:spcAft>
              <a:buSzPts val="1400"/>
              <a:buChar char="●"/>
            </a:pPr>
            <a:r>
              <a:rPr lang="en"/>
              <a:t>Also considers ecological niches for </a:t>
            </a:r>
            <a:r>
              <a:rPr lang="en"/>
              <a:t>future trees </a:t>
            </a:r>
            <a:r>
              <a:rPr lang="en"/>
              <a:t>to grow and flourish</a:t>
            </a:r>
            <a:endParaRPr/>
          </a:p>
          <a:p>
            <a:pPr indent="-317500" lvl="0" marL="457200" rtl="0" algn="l">
              <a:lnSpc>
                <a:spcPct val="100000"/>
              </a:lnSpc>
              <a:spcBef>
                <a:spcPts val="0"/>
              </a:spcBef>
              <a:spcAft>
                <a:spcPts val="0"/>
              </a:spcAft>
              <a:buSzPts val="1400"/>
              <a:buChar char="●"/>
            </a:pPr>
            <a:r>
              <a:rPr lang="en"/>
              <a:t>Attfield approach to this concern that shall be grounded to all (even non-biocentrist)</a:t>
            </a:r>
            <a:endParaRPr/>
          </a:p>
          <a:p>
            <a:pPr indent="-317500" lvl="0" marL="457200" rtl="0" algn="l">
              <a:lnSpc>
                <a:spcPct val="100000"/>
              </a:lnSpc>
              <a:spcBef>
                <a:spcPts val="0"/>
              </a:spcBef>
              <a:spcAft>
                <a:spcPts val="0"/>
              </a:spcAft>
              <a:buSzPts val="1400"/>
              <a:buChar char="●"/>
            </a:pPr>
            <a:r>
              <a:rPr lang="en"/>
              <a:t>The</a:t>
            </a:r>
            <a:r>
              <a:rPr lang="en"/>
              <a:t> permanent removal of forests is considered of higher concern rather than chopping down trees and to be readily replaced by newly grown.</a:t>
            </a:r>
            <a:endParaRPr/>
          </a:p>
          <a:p>
            <a:pPr indent="-317500" lvl="0" marL="457200" rtl="0" algn="l">
              <a:lnSpc>
                <a:spcPct val="100000"/>
              </a:lnSpc>
              <a:spcBef>
                <a:spcPts val="0"/>
              </a:spcBef>
              <a:spcAft>
                <a:spcPts val="0"/>
              </a:spcAft>
              <a:buSzPts val="1400"/>
              <a:buChar char="●"/>
            </a:pPr>
            <a:r>
              <a:rPr lang="en"/>
              <a:t>The</a:t>
            </a:r>
            <a:r>
              <a:rPr lang="en"/>
              <a:t> replacement of trees by new ones are not always unethical.</a:t>
            </a:r>
            <a:endParaRPr/>
          </a:p>
        </p:txBody>
      </p:sp>
      <p:cxnSp>
        <p:nvCxnSpPr>
          <p:cNvPr id="486" name="Google Shape;486;p36"/>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7"/>
          <p:cNvSpPr txBox="1"/>
          <p:nvPr>
            <p:ph type="title"/>
          </p:nvPr>
        </p:nvSpPr>
        <p:spPr>
          <a:xfrm>
            <a:off x="945425" y="635725"/>
            <a:ext cx="71493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Consequences of Deforestation</a:t>
            </a:r>
            <a:endParaRPr sz="2900"/>
          </a:p>
        </p:txBody>
      </p:sp>
      <p:sp>
        <p:nvSpPr>
          <p:cNvPr id="492" name="Google Shape;492;p37"/>
          <p:cNvSpPr txBox="1"/>
          <p:nvPr>
            <p:ph idx="1" type="subTitle"/>
          </p:nvPr>
        </p:nvSpPr>
        <p:spPr>
          <a:xfrm>
            <a:off x="1049250" y="1470275"/>
            <a:ext cx="7149300" cy="3673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Increase in CO</a:t>
            </a:r>
            <a:r>
              <a:rPr baseline="-25000" lang="en"/>
              <a:t>2</a:t>
            </a:r>
            <a:r>
              <a:rPr lang="en"/>
              <a:t> into the atmosphere as forest being cleared, reduces the ability to trap emissions (“carbon sink”)</a:t>
            </a:r>
            <a:endParaRPr/>
          </a:p>
          <a:p>
            <a:pPr indent="-317500" lvl="0" marL="457200" rtl="0" algn="l">
              <a:lnSpc>
                <a:spcPct val="100000"/>
              </a:lnSpc>
              <a:spcBef>
                <a:spcPts val="0"/>
              </a:spcBef>
              <a:spcAft>
                <a:spcPts val="0"/>
              </a:spcAft>
              <a:buSzPts val="1400"/>
              <a:buChar char="●"/>
            </a:pPr>
            <a:r>
              <a:rPr lang="en"/>
              <a:t>Large</a:t>
            </a:r>
            <a:r>
              <a:rPr lang="en"/>
              <a:t> </a:t>
            </a:r>
            <a:r>
              <a:rPr lang="en"/>
              <a:t>proportion</a:t>
            </a:r>
            <a:r>
              <a:rPr lang="en"/>
              <a:t> of trees with stored carbon are burned that releases </a:t>
            </a:r>
            <a:r>
              <a:rPr lang="en"/>
              <a:t>CO</a:t>
            </a:r>
            <a:r>
              <a:rPr baseline="-25000" lang="en"/>
              <a:t>2</a:t>
            </a:r>
            <a:endParaRPr/>
          </a:p>
          <a:p>
            <a:pPr indent="-317500" lvl="0" marL="457200" rtl="0" algn="l">
              <a:lnSpc>
                <a:spcPct val="100000"/>
              </a:lnSpc>
              <a:spcBef>
                <a:spcPts val="0"/>
              </a:spcBef>
              <a:spcAft>
                <a:spcPts val="0"/>
              </a:spcAft>
              <a:buSzPts val="1400"/>
              <a:buChar char="●"/>
            </a:pPr>
            <a:r>
              <a:rPr lang="en"/>
              <a:t>There are very little prospect that CO</a:t>
            </a:r>
            <a:r>
              <a:rPr baseline="-25000" lang="en"/>
              <a:t>2 </a:t>
            </a:r>
            <a:r>
              <a:rPr lang="en"/>
              <a:t>gets absorbed by growing vegetation at the same place.</a:t>
            </a:r>
            <a:endParaRPr/>
          </a:p>
          <a:p>
            <a:pPr indent="-317500" lvl="0" marL="457200" rtl="0" algn="l">
              <a:lnSpc>
                <a:spcPct val="100000"/>
              </a:lnSpc>
              <a:spcBef>
                <a:spcPts val="0"/>
              </a:spcBef>
              <a:spcAft>
                <a:spcPts val="0"/>
              </a:spcAft>
              <a:buSzPts val="1400"/>
              <a:buChar char="●"/>
            </a:pPr>
            <a:r>
              <a:rPr lang="en"/>
              <a:t>CO</a:t>
            </a:r>
            <a:r>
              <a:rPr baseline="-25000" lang="en"/>
              <a:t>2 </a:t>
            </a:r>
            <a:r>
              <a:rPr lang="en"/>
              <a:t>levels rise from 280 ppm to ~ 400 ppm (parts per million) after industrial revolution</a:t>
            </a:r>
            <a:endParaRPr/>
          </a:p>
          <a:p>
            <a:pPr indent="-317500" lvl="0" marL="457200" rtl="0" algn="l">
              <a:lnSpc>
                <a:spcPct val="100000"/>
              </a:lnSpc>
              <a:spcBef>
                <a:spcPts val="0"/>
              </a:spcBef>
              <a:spcAft>
                <a:spcPts val="0"/>
              </a:spcAft>
              <a:buSzPts val="1400"/>
              <a:buChar char="●"/>
            </a:pPr>
            <a:r>
              <a:rPr lang="en"/>
              <a:t>IPCC warned increased levels of CO</a:t>
            </a:r>
            <a:r>
              <a:rPr baseline="-25000" lang="en"/>
              <a:t>2 </a:t>
            </a:r>
            <a:r>
              <a:rPr lang="en"/>
              <a:t>has caused:</a:t>
            </a:r>
            <a:endParaRPr/>
          </a:p>
          <a:p>
            <a:pPr indent="0" lvl="0" marL="457200" rtl="0" algn="l">
              <a:lnSpc>
                <a:spcPct val="100000"/>
              </a:lnSpc>
              <a:spcBef>
                <a:spcPts val="0"/>
              </a:spcBef>
              <a:spcAft>
                <a:spcPts val="0"/>
              </a:spcAft>
              <a:buNone/>
            </a:pPr>
            <a:r>
              <a:rPr lang="en" sz="1300"/>
              <a:t>I.  Sea-level rise   II. Global warming</a:t>
            </a:r>
            <a:endParaRPr sz="1300"/>
          </a:p>
          <a:p>
            <a:pPr indent="0" lvl="0" marL="457200" rtl="0" algn="l">
              <a:lnSpc>
                <a:spcPct val="100000"/>
              </a:lnSpc>
              <a:spcBef>
                <a:spcPts val="0"/>
              </a:spcBef>
              <a:spcAft>
                <a:spcPts val="0"/>
              </a:spcAft>
              <a:buNone/>
            </a:pPr>
            <a:r>
              <a:rPr lang="en" sz="1300"/>
              <a:t>III. Flooding   IV. Severe weather events</a:t>
            </a:r>
            <a:endParaRPr sz="1300"/>
          </a:p>
          <a:p>
            <a:pPr indent="0" lvl="0" marL="457200" rtl="0" algn="l">
              <a:lnSpc>
                <a:spcPct val="100000"/>
              </a:lnSpc>
              <a:spcBef>
                <a:spcPts val="0"/>
              </a:spcBef>
              <a:spcAft>
                <a:spcPts val="0"/>
              </a:spcAft>
              <a:buNone/>
            </a:pPr>
            <a:r>
              <a:rPr lang="en" sz="1300"/>
              <a:t>V. Spread of diseases such as dengue fever, malaria, etc.</a:t>
            </a:r>
            <a:endParaRPr sz="1300"/>
          </a:p>
          <a:p>
            <a:pPr indent="0" lvl="0" marL="457200" rtl="0" algn="l">
              <a:lnSpc>
                <a:spcPct val="100000"/>
              </a:lnSpc>
              <a:spcBef>
                <a:spcPts val="0"/>
              </a:spcBef>
              <a:spcAft>
                <a:spcPts val="0"/>
              </a:spcAft>
              <a:buNone/>
            </a:pPr>
            <a:r>
              <a:rPr lang="en" sz="1300"/>
              <a:t>VI. Extinction of species (flora and fauna) due to habitats destruction</a:t>
            </a:r>
            <a:endParaRPr sz="1300"/>
          </a:p>
        </p:txBody>
      </p:sp>
      <p:cxnSp>
        <p:nvCxnSpPr>
          <p:cNvPr id="493" name="Google Shape;493;p37"/>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8"/>
          <p:cNvSpPr txBox="1"/>
          <p:nvPr>
            <p:ph type="title"/>
          </p:nvPr>
        </p:nvSpPr>
        <p:spPr>
          <a:xfrm>
            <a:off x="945425" y="635725"/>
            <a:ext cx="7149300" cy="67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(continued)</a:t>
            </a:r>
            <a:endParaRPr sz="2900"/>
          </a:p>
        </p:txBody>
      </p:sp>
      <p:sp>
        <p:nvSpPr>
          <p:cNvPr id="499" name="Google Shape;499;p38"/>
          <p:cNvSpPr txBox="1"/>
          <p:nvPr>
            <p:ph idx="1" type="subTitle"/>
          </p:nvPr>
        </p:nvSpPr>
        <p:spPr>
          <a:xfrm>
            <a:off x="1049250" y="1470275"/>
            <a:ext cx="7149300" cy="3673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Contributes to aesthetic and biodiversity losses</a:t>
            </a:r>
            <a:endParaRPr/>
          </a:p>
          <a:p>
            <a:pPr indent="-317500" lvl="0" marL="457200" rtl="0" algn="l">
              <a:lnSpc>
                <a:spcPct val="100000"/>
              </a:lnSpc>
              <a:spcBef>
                <a:spcPts val="0"/>
              </a:spcBef>
              <a:spcAft>
                <a:spcPts val="0"/>
              </a:spcAft>
              <a:buSzPts val="1400"/>
              <a:buChar char="●"/>
            </a:pPr>
            <a:r>
              <a:rPr lang="en"/>
              <a:t>Aesthetic loss accounts for the human love for trees, woods, and presence of forests not the value of relevant individual trees</a:t>
            </a:r>
            <a:endParaRPr/>
          </a:p>
          <a:p>
            <a:pPr indent="-317500" lvl="0" marL="457200" rtl="0" algn="l">
              <a:lnSpc>
                <a:spcPct val="100000"/>
              </a:lnSpc>
              <a:spcBef>
                <a:spcPts val="0"/>
              </a:spcBef>
              <a:spcAft>
                <a:spcPts val="0"/>
              </a:spcAft>
              <a:buSzPts val="1400"/>
              <a:buChar char="●"/>
            </a:pPr>
            <a:r>
              <a:rPr lang="en"/>
              <a:t>Aesthetic value is important to foster motivations for preserving forests.</a:t>
            </a:r>
            <a:endParaRPr/>
          </a:p>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p:txBody>
      </p:sp>
      <p:cxnSp>
        <p:nvCxnSpPr>
          <p:cNvPr id="500" name="Google Shape;500;p38"/>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9"/>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Biocentrists, Anthropocentrists and Sentientists</a:t>
            </a:r>
            <a:endParaRPr sz="2900"/>
          </a:p>
        </p:txBody>
      </p:sp>
      <p:sp>
        <p:nvSpPr>
          <p:cNvPr id="506" name="Google Shape;506;p39"/>
          <p:cNvSpPr txBox="1"/>
          <p:nvPr>
            <p:ph idx="1" type="subTitle"/>
          </p:nvPr>
        </p:nvSpPr>
        <p:spPr>
          <a:xfrm>
            <a:off x="1049250" y="1470275"/>
            <a:ext cx="7149300" cy="3673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Biocentrists are concerned for human well-being (holds intrinsic value) and </a:t>
            </a:r>
            <a:r>
              <a:rPr lang="en"/>
              <a:t>disruption</a:t>
            </a:r>
            <a:r>
              <a:rPr lang="en"/>
              <a:t> of species that are often forced to migrate towards the poles until they ran out of habitat.</a:t>
            </a:r>
            <a:endParaRPr/>
          </a:p>
          <a:p>
            <a:pPr indent="-317500" lvl="0" marL="457200" rtl="0" algn="l">
              <a:lnSpc>
                <a:spcPct val="100000"/>
              </a:lnSpc>
              <a:spcBef>
                <a:spcPts val="0"/>
              </a:spcBef>
              <a:spcAft>
                <a:spcPts val="0"/>
              </a:spcAft>
              <a:buSzPts val="1400"/>
              <a:buChar char="●"/>
            </a:pPr>
            <a:r>
              <a:rPr lang="en"/>
              <a:t>In addition, they also shows concern for climate change</a:t>
            </a:r>
            <a:endParaRPr/>
          </a:p>
          <a:p>
            <a:pPr indent="-317500" lvl="0" marL="457200" rtl="0" algn="l">
              <a:lnSpc>
                <a:spcPct val="100000"/>
              </a:lnSpc>
              <a:spcBef>
                <a:spcPts val="0"/>
              </a:spcBef>
              <a:spcAft>
                <a:spcPts val="0"/>
              </a:spcAft>
              <a:buSzPts val="1400"/>
              <a:buChar char="●"/>
            </a:pPr>
            <a:r>
              <a:rPr lang="en"/>
              <a:t>According to them, trees are landmarks and carry symbolic value for humans and all flourishing trees holds intrinsic value.</a:t>
            </a:r>
            <a:endParaRPr/>
          </a:p>
          <a:p>
            <a:pPr indent="-317500" lvl="0" marL="457200" rtl="0" algn="l">
              <a:lnSpc>
                <a:spcPct val="100000"/>
              </a:lnSpc>
              <a:spcBef>
                <a:spcPts val="0"/>
              </a:spcBef>
              <a:spcAft>
                <a:spcPts val="0"/>
              </a:spcAft>
              <a:buSzPts val="1400"/>
              <a:buChar char="●"/>
            </a:pPr>
            <a:r>
              <a:rPr lang="en"/>
              <a:t>Anthropocentrists are concerned for humans and their values</a:t>
            </a:r>
            <a:endParaRPr/>
          </a:p>
          <a:p>
            <a:pPr indent="-317500" lvl="0" marL="457200" rtl="0" algn="l">
              <a:lnSpc>
                <a:spcPct val="100000"/>
              </a:lnSpc>
              <a:spcBef>
                <a:spcPts val="0"/>
              </a:spcBef>
              <a:spcAft>
                <a:spcPts val="0"/>
              </a:spcAft>
              <a:buSzPts val="1400"/>
              <a:buChar char="●"/>
            </a:pPr>
            <a:r>
              <a:rPr lang="en"/>
              <a:t>Sentientists are concerned for sentient animals (including humans) and their values</a:t>
            </a:r>
            <a:endParaRPr/>
          </a:p>
          <a:p>
            <a:pPr indent="-317500" lvl="0" marL="457200" rtl="0" algn="l">
              <a:lnSpc>
                <a:spcPct val="100000"/>
              </a:lnSpc>
              <a:spcBef>
                <a:spcPts val="0"/>
              </a:spcBef>
              <a:spcAft>
                <a:spcPts val="0"/>
              </a:spcAft>
              <a:buSzPts val="1400"/>
              <a:buChar char="●"/>
            </a:pPr>
            <a:r>
              <a:rPr lang="en"/>
              <a:t>Neither shows particular concern towards plants.</a:t>
            </a:r>
            <a:endParaRPr/>
          </a:p>
          <a:p>
            <a:pPr indent="-317500" lvl="0" marL="457200" rtl="0" algn="l">
              <a:lnSpc>
                <a:spcPct val="100000"/>
              </a:lnSpc>
              <a:spcBef>
                <a:spcPts val="0"/>
              </a:spcBef>
              <a:spcAft>
                <a:spcPts val="0"/>
              </a:spcAft>
              <a:buSzPts val="1400"/>
              <a:buChar char="●"/>
            </a:pPr>
            <a:r>
              <a:rPr lang="en"/>
              <a:t>Many threats are particularly to humanity and humans.</a:t>
            </a:r>
            <a:endParaRPr/>
          </a:p>
        </p:txBody>
      </p:sp>
      <p:cxnSp>
        <p:nvCxnSpPr>
          <p:cNvPr id="507" name="Google Shape;507;p39"/>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0"/>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Extinction of Species</a:t>
            </a:r>
            <a:endParaRPr sz="2900"/>
          </a:p>
        </p:txBody>
      </p:sp>
      <p:sp>
        <p:nvSpPr>
          <p:cNvPr id="513" name="Google Shape;513;p40"/>
          <p:cNvSpPr txBox="1"/>
          <p:nvPr>
            <p:ph idx="1" type="subTitle"/>
          </p:nvPr>
        </p:nvSpPr>
        <p:spPr>
          <a:xfrm>
            <a:off x="809625" y="1470275"/>
            <a:ext cx="7877400" cy="3673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Species </a:t>
            </a:r>
            <a:r>
              <a:rPr lang="en"/>
              <a:t>extinction</a:t>
            </a:r>
            <a:r>
              <a:rPr lang="en"/>
              <a:t> are greatly defined by human activities</a:t>
            </a:r>
            <a:endParaRPr/>
          </a:p>
          <a:p>
            <a:pPr indent="-317500" lvl="0" marL="457200" rtl="0" algn="l">
              <a:lnSpc>
                <a:spcPct val="100000"/>
              </a:lnSpc>
              <a:spcBef>
                <a:spcPts val="0"/>
              </a:spcBef>
              <a:spcAft>
                <a:spcPts val="0"/>
              </a:spcAft>
              <a:buSzPts val="1400"/>
              <a:buChar char="●"/>
            </a:pPr>
            <a:r>
              <a:rPr lang="en"/>
              <a:t>Species found on Coral reefs in rain-forests are at great risks.</a:t>
            </a:r>
            <a:endParaRPr/>
          </a:p>
          <a:p>
            <a:pPr indent="0" lvl="0" marL="457200" rtl="0" algn="l">
              <a:lnSpc>
                <a:spcPct val="100000"/>
              </a:lnSpc>
              <a:spcBef>
                <a:spcPts val="0"/>
              </a:spcBef>
              <a:spcAft>
                <a:spcPts val="0"/>
              </a:spcAft>
              <a:buNone/>
            </a:pPr>
            <a:r>
              <a:rPr lang="en" sz="1300"/>
              <a:t>I. D</a:t>
            </a:r>
            <a:r>
              <a:rPr lang="en" sz="1300"/>
              <a:t>eforestation/forest clearing</a:t>
            </a:r>
            <a:endParaRPr sz="1300"/>
          </a:p>
          <a:p>
            <a:pPr indent="0" lvl="0" marL="457200" rtl="0" algn="l">
              <a:lnSpc>
                <a:spcPct val="100000"/>
              </a:lnSpc>
              <a:spcBef>
                <a:spcPts val="0"/>
              </a:spcBef>
              <a:spcAft>
                <a:spcPts val="0"/>
              </a:spcAft>
              <a:buNone/>
            </a:pPr>
            <a:r>
              <a:rPr lang="en" sz="1300"/>
              <a:t>II. Indiscriminate fishing</a:t>
            </a:r>
            <a:endParaRPr sz="1300"/>
          </a:p>
          <a:p>
            <a:pPr indent="0" lvl="0" marL="457200" rtl="0" algn="l">
              <a:lnSpc>
                <a:spcPct val="100000"/>
              </a:lnSpc>
              <a:spcBef>
                <a:spcPts val="0"/>
              </a:spcBef>
              <a:spcAft>
                <a:spcPts val="0"/>
              </a:spcAft>
              <a:buNone/>
            </a:pPr>
            <a:r>
              <a:rPr lang="en" sz="1300"/>
              <a:t>III. Mining</a:t>
            </a:r>
            <a:endParaRPr sz="1300"/>
          </a:p>
          <a:p>
            <a:pPr indent="0" lvl="0" marL="457200" rtl="0" algn="l">
              <a:lnSpc>
                <a:spcPct val="100000"/>
              </a:lnSpc>
              <a:spcBef>
                <a:spcPts val="0"/>
              </a:spcBef>
              <a:spcAft>
                <a:spcPts val="0"/>
              </a:spcAft>
              <a:buNone/>
            </a:pPr>
            <a:r>
              <a:t/>
            </a:r>
            <a:endParaRPr sz="1300"/>
          </a:p>
          <a:p>
            <a:pPr indent="-317500" lvl="0" marL="457200" rtl="0" algn="l">
              <a:lnSpc>
                <a:spcPct val="100000"/>
              </a:lnSpc>
              <a:spcBef>
                <a:spcPts val="0"/>
              </a:spcBef>
              <a:spcAft>
                <a:spcPts val="0"/>
              </a:spcAft>
              <a:buSzPts val="1400"/>
              <a:buChar char="●"/>
            </a:pPr>
            <a:r>
              <a:rPr lang="en"/>
              <a:t>Imbalance in ecosystems cannot easily be reassembled</a:t>
            </a:r>
            <a:endParaRPr/>
          </a:p>
          <a:p>
            <a:pPr indent="-317500" lvl="0" marL="457200" rtl="0" algn="l">
              <a:lnSpc>
                <a:spcPct val="100000"/>
              </a:lnSpc>
              <a:spcBef>
                <a:spcPts val="0"/>
              </a:spcBef>
              <a:spcAft>
                <a:spcPts val="0"/>
              </a:spcAft>
              <a:buSzPts val="1400"/>
              <a:buChar char="●"/>
            </a:pPr>
            <a:r>
              <a:rPr lang="en"/>
              <a:t>Production of timber, paper and other products from chopping of forests can only be justifiable in a case when anthropocentrists and sentientist be condemned by biocentrists.</a:t>
            </a:r>
            <a:endParaRPr/>
          </a:p>
          <a:p>
            <a:pPr indent="-317500" lvl="0" marL="457200" rtl="0" algn="l">
              <a:lnSpc>
                <a:spcPct val="100000"/>
              </a:lnSpc>
              <a:spcBef>
                <a:spcPts val="0"/>
              </a:spcBef>
              <a:spcAft>
                <a:spcPts val="0"/>
              </a:spcAft>
              <a:buSzPts val="1400"/>
              <a:buChar char="●"/>
            </a:pPr>
            <a:r>
              <a:rPr lang="en"/>
              <a:t>The basis of moral acceptability of </a:t>
            </a:r>
            <a:r>
              <a:rPr lang="en"/>
              <a:t>forestry relies onto the clear-felling of trees and ability of its regrowth, but in reality the prospect of regrowth reduced too severely</a:t>
            </a:r>
            <a:endParaRPr/>
          </a:p>
        </p:txBody>
      </p:sp>
      <p:cxnSp>
        <p:nvCxnSpPr>
          <p:cNvPr id="514" name="Google Shape;514;p40"/>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1"/>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Replaceability</a:t>
            </a:r>
            <a:r>
              <a:rPr lang="en" sz="2900"/>
              <a:t> of conscious and non-conscious creatures</a:t>
            </a:r>
            <a:endParaRPr sz="2900"/>
          </a:p>
        </p:txBody>
      </p:sp>
      <p:sp>
        <p:nvSpPr>
          <p:cNvPr id="520" name="Google Shape;520;p41"/>
          <p:cNvSpPr txBox="1"/>
          <p:nvPr>
            <p:ph idx="1" type="subTitle"/>
          </p:nvPr>
        </p:nvSpPr>
        <p:spPr>
          <a:xfrm>
            <a:off x="809625" y="1470275"/>
            <a:ext cx="7877400" cy="3673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It is important to access the forestry practice analyzing the benefits and harms to humans, animals, plants including trees.</a:t>
            </a:r>
            <a:endParaRPr/>
          </a:p>
          <a:p>
            <a:pPr indent="-317500" lvl="0" marL="457200" rtl="0" algn="l">
              <a:lnSpc>
                <a:spcPct val="100000"/>
              </a:lnSpc>
              <a:spcBef>
                <a:spcPts val="0"/>
              </a:spcBef>
              <a:spcAft>
                <a:spcPts val="0"/>
              </a:spcAft>
              <a:buSzPts val="1400"/>
              <a:buChar char="●"/>
            </a:pPr>
            <a:r>
              <a:rPr lang="en"/>
              <a:t>In general, trees are </a:t>
            </a:r>
            <a:r>
              <a:rPr lang="en"/>
              <a:t>considered</a:t>
            </a:r>
            <a:r>
              <a:rPr lang="en"/>
              <a:t> replaceable but particular landmark trees holds </a:t>
            </a:r>
            <a:r>
              <a:rPr lang="en"/>
              <a:t>irreplaceability</a:t>
            </a:r>
            <a:r>
              <a:rPr lang="en"/>
              <a:t> status due to its historical or symbolic value</a:t>
            </a:r>
            <a:endParaRPr/>
          </a:p>
          <a:p>
            <a:pPr indent="-317500" lvl="0" marL="457200" rtl="0" algn="l">
              <a:lnSpc>
                <a:spcPct val="100000"/>
              </a:lnSpc>
              <a:spcBef>
                <a:spcPts val="0"/>
              </a:spcBef>
              <a:spcAft>
                <a:spcPts val="0"/>
              </a:spcAft>
              <a:buSzPts val="1400"/>
              <a:buChar char="●"/>
            </a:pPr>
            <a:r>
              <a:rPr lang="en"/>
              <a:t>Singer’s argues that replaceability of conscious creatures (eg. cows) that are not self-conscious is not wrongful to kill them as long as it is done painlessly</a:t>
            </a:r>
            <a:endParaRPr/>
          </a:p>
          <a:p>
            <a:pPr indent="-317500" lvl="0" marL="457200" rtl="0" algn="l">
              <a:lnSpc>
                <a:spcPct val="100000"/>
              </a:lnSpc>
              <a:spcBef>
                <a:spcPts val="0"/>
              </a:spcBef>
              <a:spcAft>
                <a:spcPts val="0"/>
              </a:spcAft>
              <a:buSzPts val="1400"/>
              <a:buChar char="●"/>
            </a:pPr>
            <a:r>
              <a:rPr lang="en"/>
              <a:t>In order to compensate, raise and rear similar creatures</a:t>
            </a:r>
            <a:endParaRPr/>
          </a:p>
          <a:p>
            <a:pPr indent="-317500" lvl="0" marL="457200" rtl="0" algn="l">
              <a:lnSpc>
                <a:spcPct val="100000"/>
              </a:lnSpc>
              <a:spcBef>
                <a:spcPts val="0"/>
              </a:spcBef>
              <a:spcAft>
                <a:spcPts val="0"/>
              </a:spcAft>
              <a:buSzPts val="1400"/>
              <a:buChar char="●"/>
            </a:pPr>
            <a:r>
              <a:rPr lang="en"/>
              <a:t>The killing of self-conscious creatures is morally wrong</a:t>
            </a:r>
            <a:endParaRPr/>
          </a:p>
          <a:p>
            <a:pPr indent="-317500" lvl="0" marL="457200" rtl="0" algn="l">
              <a:lnSpc>
                <a:spcPct val="100000"/>
              </a:lnSpc>
              <a:spcBef>
                <a:spcPts val="0"/>
              </a:spcBef>
              <a:spcAft>
                <a:spcPts val="0"/>
              </a:spcAft>
              <a:buSzPts val="1400"/>
              <a:buChar char="●"/>
            </a:pPr>
            <a:r>
              <a:rPr lang="en"/>
              <a:t>Singer’s view on trees applies a </a:t>
            </a:r>
            <a:r>
              <a:rPr lang="en"/>
              <a:t>similar logic </a:t>
            </a:r>
            <a:r>
              <a:rPr lang="en"/>
              <a:t>where trees are non-conscious and can be regarded as replaceable.</a:t>
            </a:r>
            <a:endParaRPr/>
          </a:p>
        </p:txBody>
      </p:sp>
      <p:cxnSp>
        <p:nvCxnSpPr>
          <p:cNvPr id="521" name="Google Shape;521;p41"/>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2"/>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Renewable Resources</a:t>
            </a:r>
            <a:endParaRPr sz="2900"/>
          </a:p>
        </p:txBody>
      </p:sp>
      <p:sp>
        <p:nvSpPr>
          <p:cNvPr id="527" name="Google Shape;527;p42"/>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Rearing for plants for fuel-wood is inexpensive to produce electricity.</a:t>
            </a:r>
            <a:endParaRPr/>
          </a:p>
          <a:p>
            <a:pPr indent="-317500" lvl="0" marL="457200" rtl="0" algn="l">
              <a:lnSpc>
                <a:spcPct val="100000"/>
              </a:lnSpc>
              <a:spcBef>
                <a:spcPts val="0"/>
              </a:spcBef>
              <a:spcAft>
                <a:spcPts val="0"/>
              </a:spcAft>
              <a:buSzPts val="1400"/>
              <a:buChar char="●"/>
            </a:pPr>
            <a:r>
              <a:rPr lang="en"/>
              <a:t>Planting Plantations for fuel-wood in itself a forestry practice</a:t>
            </a:r>
            <a:endParaRPr/>
          </a:p>
          <a:p>
            <a:pPr indent="-317500" lvl="0" marL="457200" rtl="0" algn="l">
              <a:lnSpc>
                <a:spcPct val="100000"/>
              </a:lnSpc>
              <a:spcBef>
                <a:spcPts val="0"/>
              </a:spcBef>
              <a:spcAft>
                <a:spcPts val="0"/>
              </a:spcAft>
              <a:buSzPts val="1400"/>
              <a:buChar char="●"/>
            </a:pPr>
            <a:r>
              <a:rPr lang="en"/>
              <a:t>Forest ethics shall not condemn this practice but </a:t>
            </a:r>
            <a:r>
              <a:rPr lang="en"/>
              <a:t>broadly</a:t>
            </a:r>
            <a:r>
              <a:rPr lang="en"/>
              <a:t> welcome with a view to satisfy human needs of poor people in developing countries</a:t>
            </a:r>
            <a:endParaRPr/>
          </a:p>
          <a:p>
            <a:pPr indent="-317500" lvl="0" marL="457200" rtl="0" algn="l">
              <a:lnSpc>
                <a:spcPct val="100000"/>
              </a:lnSpc>
              <a:spcBef>
                <a:spcPts val="0"/>
              </a:spcBef>
              <a:spcAft>
                <a:spcPts val="0"/>
              </a:spcAft>
              <a:buSzPts val="1400"/>
              <a:buChar char="●"/>
            </a:pPr>
            <a:r>
              <a:rPr lang="en"/>
              <a:t>Forest cannot be regarded as resources only as it is renewable resources with large proportion of species on the planets</a:t>
            </a:r>
            <a:endParaRPr/>
          </a:p>
          <a:p>
            <a:pPr indent="-317500" lvl="0" marL="457200" rtl="0" algn="l">
              <a:lnSpc>
                <a:spcPct val="100000"/>
              </a:lnSpc>
              <a:spcBef>
                <a:spcPts val="0"/>
              </a:spcBef>
              <a:spcAft>
                <a:spcPts val="0"/>
              </a:spcAft>
              <a:buSzPts val="1400"/>
              <a:buChar char="●"/>
            </a:pPr>
            <a:r>
              <a:rPr lang="en"/>
              <a:t>Renewable resources exists as long as sufficient forest is capable to renew itself through re-growth</a:t>
            </a:r>
            <a:endParaRPr/>
          </a:p>
          <a:p>
            <a:pPr indent="-317500" lvl="0" marL="457200" rtl="0" algn="l">
              <a:lnSpc>
                <a:spcPct val="100000"/>
              </a:lnSpc>
              <a:spcBef>
                <a:spcPts val="0"/>
              </a:spcBef>
              <a:spcAft>
                <a:spcPts val="0"/>
              </a:spcAft>
              <a:buSzPts val="1400"/>
              <a:buChar char="●"/>
            </a:pPr>
            <a:r>
              <a:rPr lang="en"/>
              <a:t>The ability of forest to renew itself in perpetuity making it possible for humans to benefit year after year. This corresponds to “sustainable management.”</a:t>
            </a:r>
            <a:endParaRPr/>
          </a:p>
          <a:p>
            <a:pPr indent="0" lvl="0" marL="457200" rtl="0" algn="l">
              <a:lnSpc>
                <a:spcPct val="100000"/>
              </a:lnSpc>
              <a:spcBef>
                <a:spcPts val="0"/>
              </a:spcBef>
              <a:spcAft>
                <a:spcPts val="0"/>
              </a:spcAft>
              <a:buNone/>
            </a:pPr>
            <a:r>
              <a:t/>
            </a:r>
            <a:endParaRPr/>
          </a:p>
        </p:txBody>
      </p:sp>
      <p:cxnSp>
        <p:nvCxnSpPr>
          <p:cNvPr id="528" name="Google Shape;528;p42"/>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3"/>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Efforts</a:t>
            </a:r>
            <a:r>
              <a:rPr lang="en" sz="2900"/>
              <a:t> towards saving forest</a:t>
            </a:r>
            <a:endParaRPr sz="2900"/>
          </a:p>
        </p:txBody>
      </p:sp>
      <p:sp>
        <p:nvSpPr>
          <p:cNvPr id="534" name="Google Shape;534;p43"/>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Indonesia, Brunei, and Malaysia agreed upon to conserve forest of Borneo.</a:t>
            </a:r>
            <a:endParaRPr/>
          </a:p>
          <a:p>
            <a:pPr indent="-317500" lvl="0" marL="457200" rtl="0" algn="l">
              <a:lnSpc>
                <a:spcPct val="100000"/>
              </a:lnSpc>
              <a:spcBef>
                <a:spcPts val="0"/>
              </a:spcBef>
              <a:spcAft>
                <a:spcPts val="0"/>
              </a:spcAft>
              <a:buSzPts val="1400"/>
              <a:buChar char="●"/>
            </a:pPr>
            <a:r>
              <a:rPr lang="en"/>
              <a:t>Formation of ACTO (Amazon Cooperation Treaty Organization) to promote sustainable development in </a:t>
            </a:r>
            <a:r>
              <a:rPr lang="en"/>
              <a:t>context</a:t>
            </a:r>
            <a:r>
              <a:rPr lang="en"/>
              <a:t> of the UN Forum on Forest</a:t>
            </a:r>
            <a:endParaRPr/>
          </a:p>
          <a:p>
            <a:pPr indent="-317500" lvl="0" marL="457200" rtl="0" algn="l">
              <a:lnSpc>
                <a:spcPct val="100000"/>
              </a:lnSpc>
              <a:spcBef>
                <a:spcPts val="0"/>
              </a:spcBef>
              <a:spcAft>
                <a:spcPts val="0"/>
              </a:spcAft>
              <a:buSzPts val="1400"/>
              <a:buChar char="●"/>
            </a:pPr>
            <a:r>
              <a:rPr lang="en"/>
              <a:t>Susan proposal undertake important reforestation and biodiversity conservation works.</a:t>
            </a:r>
            <a:endParaRPr/>
          </a:p>
          <a:p>
            <a:pPr indent="-317500" lvl="0" marL="457200" rtl="0" algn="l">
              <a:lnSpc>
                <a:spcPct val="100000"/>
              </a:lnSpc>
              <a:spcBef>
                <a:spcPts val="0"/>
              </a:spcBef>
              <a:spcAft>
                <a:spcPts val="0"/>
              </a:spcAft>
              <a:buSzPts val="1400"/>
              <a:buChar char="●"/>
            </a:pPr>
            <a:r>
              <a:rPr lang="en"/>
              <a:t>This work would preserve forests, contribute to the absorption of greenhouse gases and reserve some of the endangered forest species.</a:t>
            </a:r>
            <a:endParaRPr/>
          </a:p>
          <a:p>
            <a:pPr indent="0" lvl="0" marL="457200" rtl="0" algn="l">
              <a:lnSpc>
                <a:spcPct val="100000"/>
              </a:lnSpc>
              <a:spcBef>
                <a:spcPts val="0"/>
              </a:spcBef>
              <a:spcAft>
                <a:spcPts val="0"/>
              </a:spcAft>
              <a:buNone/>
            </a:pPr>
            <a:r>
              <a:t/>
            </a:r>
            <a:endParaRPr/>
          </a:p>
        </p:txBody>
      </p:sp>
      <p:cxnSp>
        <p:nvCxnSpPr>
          <p:cNvPr id="535" name="Google Shape;535;p43"/>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4"/>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Criticism and Arguments</a:t>
            </a:r>
            <a:endParaRPr sz="2900"/>
          </a:p>
        </p:txBody>
      </p:sp>
      <p:sp>
        <p:nvSpPr>
          <p:cNvPr id="541" name="Google Shape;541;p44"/>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I agree to the Attfield arguments that all </a:t>
            </a:r>
            <a:r>
              <a:rPr lang="en"/>
              <a:t>plant ethics are not part of forest ethics and all forest ethics are not part of plant ethics in entirety.</a:t>
            </a:r>
            <a:endParaRPr/>
          </a:p>
          <a:p>
            <a:pPr indent="0" lvl="0" marL="457200" rtl="0" algn="l">
              <a:lnSpc>
                <a:spcPct val="100000"/>
              </a:lnSpc>
              <a:spcBef>
                <a:spcPts val="0"/>
              </a:spcBef>
              <a:spcAft>
                <a:spcPts val="0"/>
              </a:spcAft>
              <a:buNone/>
            </a:pPr>
            <a:r>
              <a:rPr lang="en" sz="1300"/>
              <a:t>I. Plants could be part of non-forestry and/or forestry resources. </a:t>
            </a:r>
            <a:endParaRPr sz="1300"/>
          </a:p>
          <a:p>
            <a:pPr indent="0" lvl="0" marL="457200" rtl="0" algn="l">
              <a:lnSpc>
                <a:spcPct val="100000"/>
              </a:lnSpc>
              <a:spcBef>
                <a:spcPts val="0"/>
              </a:spcBef>
              <a:spcAft>
                <a:spcPts val="0"/>
              </a:spcAft>
              <a:buNone/>
            </a:pPr>
            <a:r>
              <a:rPr lang="en" sz="1300"/>
              <a:t>II. I’m convinced with the idea that Attfield portrayed about plants. It could be the part of forest whereas it could simply be one available at the botanical garden, parks, at the side of river, lakes, etc that isn’t necessarily part of forest resources.</a:t>
            </a:r>
            <a:endParaRPr sz="1300"/>
          </a:p>
          <a:p>
            <a:pPr indent="0" lvl="0" marL="457200" rtl="0" algn="l">
              <a:lnSpc>
                <a:spcPct val="100000"/>
              </a:lnSpc>
              <a:spcBef>
                <a:spcPts val="0"/>
              </a:spcBef>
              <a:spcAft>
                <a:spcPts val="0"/>
              </a:spcAft>
              <a:buNone/>
            </a:pPr>
            <a:r>
              <a:rPr lang="en" sz="1300"/>
              <a:t>III. Preservation of animals in the forest is not necessarily a part of plant ethics as to be more specific plants are typically assemblages of forest and non-forest plants.</a:t>
            </a:r>
            <a:endParaRPr sz="1300"/>
          </a:p>
          <a:p>
            <a:pPr indent="0" lvl="0" marL="457200" rtl="0" algn="l">
              <a:lnSpc>
                <a:spcPct val="100000"/>
              </a:lnSpc>
              <a:spcBef>
                <a:spcPts val="0"/>
              </a:spcBef>
              <a:spcAft>
                <a:spcPts val="0"/>
              </a:spcAft>
              <a:buNone/>
            </a:pPr>
            <a:r>
              <a:t/>
            </a:r>
            <a:endParaRPr sz="1300"/>
          </a:p>
          <a:p>
            <a:pPr indent="-317500" lvl="0" marL="457200" rtl="0" algn="l">
              <a:lnSpc>
                <a:spcPct val="100000"/>
              </a:lnSpc>
              <a:spcBef>
                <a:spcPts val="0"/>
              </a:spcBef>
              <a:spcAft>
                <a:spcPts val="0"/>
              </a:spcAft>
              <a:buSzPts val="1400"/>
              <a:buChar char="●"/>
            </a:pPr>
            <a:r>
              <a:rPr lang="en"/>
              <a:t>Although, there are difference between plant and forest ethics does not imply that they are not connected to each other.</a:t>
            </a:r>
            <a:endParaRPr/>
          </a:p>
          <a:p>
            <a:pPr indent="0" lvl="0" marL="0" rtl="0" algn="l">
              <a:lnSpc>
                <a:spcPct val="100000"/>
              </a:lnSpc>
              <a:spcBef>
                <a:spcPts val="0"/>
              </a:spcBef>
              <a:spcAft>
                <a:spcPts val="0"/>
              </a:spcAft>
              <a:buNone/>
            </a:pPr>
            <a:r>
              <a:rPr lang="en" sz="1300"/>
              <a:t>          I. The uprooting or cutting down of trees does undermine both plant and forest ethics.</a:t>
            </a:r>
            <a:endParaRPr sz="1300"/>
          </a:p>
          <a:p>
            <a:pPr indent="0" lvl="0" marL="457200" rtl="0" algn="l">
              <a:lnSpc>
                <a:spcPct val="100000"/>
              </a:lnSpc>
              <a:spcBef>
                <a:spcPts val="0"/>
              </a:spcBef>
              <a:spcAft>
                <a:spcPts val="0"/>
              </a:spcAft>
              <a:buNone/>
            </a:pPr>
            <a:r>
              <a:t/>
            </a:r>
            <a:endParaRPr sz="1300"/>
          </a:p>
          <a:p>
            <a:pPr indent="0" lvl="0" marL="457200" rtl="0" algn="l">
              <a:lnSpc>
                <a:spcPct val="100000"/>
              </a:lnSpc>
              <a:spcBef>
                <a:spcPts val="0"/>
              </a:spcBef>
              <a:spcAft>
                <a:spcPts val="0"/>
              </a:spcAft>
              <a:buNone/>
            </a:pPr>
            <a:r>
              <a:t/>
            </a:r>
            <a:endParaRPr/>
          </a:p>
        </p:txBody>
      </p:sp>
      <p:cxnSp>
        <p:nvCxnSpPr>
          <p:cNvPr id="542" name="Google Shape;542;p44"/>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5"/>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a:t>
            </a:r>
            <a:r>
              <a:rPr lang="en" sz="2900"/>
              <a:t>Continued)</a:t>
            </a:r>
            <a:endParaRPr sz="2900"/>
          </a:p>
        </p:txBody>
      </p:sp>
      <p:sp>
        <p:nvSpPr>
          <p:cNvPr id="548" name="Google Shape;548;p45"/>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a:t>Biocentrist</a:t>
            </a:r>
            <a:r>
              <a:rPr lang="en"/>
              <a:t> views does account for plants interest (intrinsic value), </a:t>
            </a:r>
            <a:r>
              <a:rPr lang="en"/>
              <a:t>disruption</a:t>
            </a:r>
            <a:r>
              <a:rPr lang="en"/>
              <a:t> of species (chopped trees, , climate change, and including ecological niches for future trees to grow and flourish.</a:t>
            </a:r>
            <a:endParaRPr/>
          </a:p>
          <a:p>
            <a:pPr indent="-317500" lvl="0" marL="457200" rtl="0" algn="l">
              <a:lnSpc>
                <a:spcPct val="100000"/>
              </a:lnSpc>
              <a:spcBef>
                <a:spcPts val="0"/>
              </a:spcBef>
              <a:spcAft>
                <a:spcPts val="0"/>
              </a:spcAft>
              <a:buSzPts val="1400"/>
              <a:buChar char="●"/>
            </a:pPr>
            <a:r>
              <a:rPr lang="en"/>
              <a:t>I agreed to the viewpoints from Biocentrist (Attfield) being conveyed to the audiences and readers.</a:t>
            </a:r>
            <a:endParaRPr/>
          </a:p>
          <a:p>
            <a:pPr indent="-317500" lvl="0" marL="457200" rtl="0" algn="l">
              <a:lnSpc>
                <a:spcPct val="100000"/>
              </a:lnSpc>
              <a:spcBef>
                <a:spcPts val="0"/>
              </a:spcBef>
              <a:spcAft>
                <a:spcPts val="0"/>
              </a:spcAft>
              <a:buSzPts val="1400"/>
              <a:buChar char="●"/>
            </a:pPr>
            <a:r>
              <a:rPr lang="en"/>
              <a:t>Attfield approach that these concerns shall be grounded to even non-biocentrist.</a:t>
            </a:r>
            <a:endParaRPr/>
          </a:p>
          <a:p>
            <a:pPr indent="-317500" lvl="0" marL="457200" rtl="0" algn="l">
              <a:lnSpc>
                <a:spcPct val="100000"/>
              </a:lnSpc>
              <a:spcBef>
                <a:spcPts val="0"/>
              </a:spcBef>
              <a:spcAft>
                <a:spcPts val="0"/>
              </a:spcAft>
              <a:buSzPts val="1400"/>
              <a:buChar char="●"/>
            </a:pPr>
            <a:r>
              <a:rPr lang="en"/>
              <a:t>The concern about clearing the forest is of higher concern than clear felling of trees and replantation on the same land.</a:t>
            </a:r>
            <a:endParaRPr/>
          </a:p>
          <a:p>
            <a:pPr indent="-317500" lvl="0" marL="457200" rtl="0" algn="l">
              <a:lnSpc>
                <a:spcPct val="100000"/>
              </a:lnSpc>
              <a:spcBef>
                <a:spcPts val="0"/>
              </a:spcBef>
              <a:spcAft>
                <a:spcPts val="0"/>
              </a:spcAft>
              <a:buSzPts val="1400"/>
              <a:buChar char="●"/>
            </a:pPr>
            <a:r>
              <a:rPr lang="en"/>
              <a:t>Although there are some concerns related to uprooting of trees that are quite old enough and has lower capability of replaceability.</a:t>
            </a:r>
            <a:endParaRPr/>
          </a:p>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sz="1300"/>
          </a:p>
          <a:p>
            <a:pPr indent="0" lvl="0" marL="457200" rtl="0" algn="l">
              <a:lnSpc>
                <a:spcPct val="100000"/>
              </a:lnSpc>
              <a:spcBef>
                <a:spcPts val="0"/>
              </a:spcBef>
              <a:spcAft>
                <a:spcPts val="0"/>
              </a:spcAft>
              <a:buNone/>
            </a:pPr>
            <a:r>
              <a:t/>
            </a:r>
            <a:endParaRPr/>
          </a:p>
        </p:txBody>
      </p:sp>
      <p:cxnSp>
        <p:nvCxnSpPr>
          <p:cNvPr id="549" name="Google Shape;549;p45"/>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6"/>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(Continued)</a:t>
            </a:r>
            <a:endParaRPr sz="2900"/>
          </a:p>
        </p:txBody>
      </p:sp>
      <p:sp>
        <p:nvSpPr>
          <p:cNvPr id="555" name="Google Shape;555;p46"/>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a:t>Trees are considered “carbon sink” but replantation might not help in carbon captures as will take several years for some trees to be able to capture the carbon emissions as existing ones.</a:t>
            </a:r>
            <a:endParaRPr/>
          </a:p>
          <a:p>
            <a:pPr indent="-317500" lvl="0" marL="457200" rtl="0" algn="l">
              <a:lnSpc>
                <a:spcPct val="100000"/>
              </a:lnSpc>
              <a:spcBef>
                <a:spcPts val="0"/>
              </a:spcBef>
              <a:spcAft>
                <a:spcPts val="0"/>
              </a:spcAft>
              <a:buSzPts val="1400"/>
              <a:buChar char="●"/>
            </a:pPr>
            <a:r>
              <a:rPr lang="en"/>
              <a:t>Although, biocentrist think that “replacement of trees might not always be of ethical concern.” I believe this is only valid when the forests and its resources are used in a way that keeps ecosystem balanced.</a:t>
            </a:r>
            <a:endParaRPr/>
          </a:p>
          <a:p>
            <a:pPr indent="-317500" lvl="0" marL="457200" rtl="0" algn="l">
              <a:lnSpc>
                <a:spcPct val="100000"/>
              </a:lnSpc>
              <a:spcBef>
                <a:spcPts val="0"/>
              </a:spcBef>
              <a:spcAft>
                <a:spcPts val="0"/>
              </a:spcAft>
              <a:buSzPts val="1400"/>
              <a:buChar char="●"/>
            </a:pPr>
            <a:r>
              <a:rPr lang="en"/>
              <a:t>The consequences of deforestation has showed various burning issues. I believe that it is a valid concern. </a:t>
            </a:r>
            <a:endParaRPr/>
          </a:p>
          <a:p>
            <a:pPr indent="-317500" lvl="0" marL="457200" rtl="0" algn="l">
              <a:lnSpc>
                <a:spcPct val="100000"/>
              </a:lnSpc>
              <a:spcBef>
                <a:spcPts val="0"/>
              </a:spcBef>
              <a:spcAft>
                <a:spcPts val="0"/>
              </a:spcAft>
              <a:buSzPts val="1400"/>
              <a:buChar char="●"/>
            </a:pPr>
            <a:r>
              <a:rPr lang="en"/>
              <a:t>Anthropocentrists cares about the humans and their values while sentientists cares about sentient animals (including humans) and their values.</a:t>
            </a:r>
            <a:endParaRPr/>
          </a:p>
          <a:p>
            <a:pPr indent="-317500" lvl="0" marL="457200" rtl="0" algn="l">
              <a:lnSpc>
                <a:spcPct val="100000"/>
              </a:lnSpc>
              <a:spcBef>
                <a:spcPts val="0"/>
              </a:spcBef>
              <a:spcAft>
                <a:spcPts val="0"/>
              </a:spcAft>
              <a:buSzPts val="1400"/>
              <a:buChar char="●"/>
            </a:pPr>
            <a:r>
              <a:rPr lang="en"/>
              <a:t>The text says that neither shows values for plants where I do not completely agree with the text.</a:t>
            </a:r>
            <a:endParaRPr/>
          </a:p>
          <a:p>
            <a:pPr indent="0" lvl="0" marL="457200" rtl="0" algn="l">
              <a:lnSpc>
                <a:spcPct val="100000"/>
              </a:lnSpc>
              <a:spcBef>
                <a:spcPts val="0"/>
              </a:spcBef>
              <a:spcAft>
                <a:spcPts val="0"/>
              </a:spcAft>
              <a:buNone/>
            </a:pPr>
            <a:r>
              <a:t/>
            </a:r>
            <a:endParaRPr sz="1300"/>
          </a:p>
          <a:p>
            <a:pPr indent="0" lvl="0" marL="457200" rtl="0" algn="l">
              <a:lnSpc>
                <a:spcPct val="100000"/>
              </a:lnSpc>
              <a:spcBef>
                <a:spcPts val="0"/>
              </a:spcBef>
              <a:spcAft>
                <a:spcPts val="0"/>
              </a:spcAft>
              <a:buNone/>
            </a:pPr>
            <a:r>
              <a:t/>
            </a:r>
            <a:endParaRPr/>
          </a:p>
        </p:txBody>
      </p:sp>
      <p:cxnSp>
        <p:nvCxnSpPr>
          <p:cNvPr id="556" name="Google Shape;556;p46"/>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7"/>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(Continued)</a:t>
            </a:r>
            <a:endParaRPr sz="2900"/>
          </a:p>
        </p:txBody>
      </p:sp>
      <p:sp>
        <p:nvSpPr>
          <p:cNvPr id="562" name="Google Shape;562;p47"/>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a:t>I believe that biocentrist views does align with caring for the </a:t>
            </a:r>
            <a:r>
              <a:rPr lang="en"/>
              <a:t>plants</a:t>
            </a:r>
            <a:r>
              <a:rPr lang="en"/>
              <a:t> because forest and its resources does include plants as well.</a:t>
            </a:r>
            <a:endParaRPr/>
          </a:p>
          <a:p>
            <a:pPr indent="-317500" lvl="0" marL="457200" rtl="0" algn="l">
              <a:lnSpc>
                <a:spcPct val="100000"/>
              </a:lnSpc>
              <a:spcBef>
                <a:spcPts val="0"/>
              </a:spcBef>
              <a:spcAft>
                <a:spcPts val="0"/>
              </a:spcAft>
              <a:buSzPts val="1400"/>
              <a:buChar char="●"/>
            </a:pPr>
            <a:r>
              <a:rPr lang="en"/>
              <a:t>Singer’s compared the chopping of trees are replaceable as like compared to killing cows painlessly and as they both are non-conscious creatures </a:t>
            </a:r>
            <a:endParaRPr/>
          </a:p>
          <a:p>
            <a:pPr indent="-317500" lvl="0" marL="457200" rtl="0" algn="l">
              <a:lnSpc>
                <a:spcPct val="100000"/>
              </a:lnSpc>
              <a:spcBef>
                <a:spcPts val="0"/>
              </a:spcBef>
              <a:spcAft>
                <a:spcPts val="0"/>
              </a:spcAft>
              <a:buSzPts val="1400"/>
              <a:buChar char="●"/>
            </a:pPr>
            <a:r>
              <a:rPr lang="en"/>
              <a:t>I do not completely agree to Singer’s viewpoint although they both are non-conscious creatures does not define that replacing them would cause the same level of harms to the environment.</a:t>
            </a:r>
            <a:endParaRPr/>
          </a:p>
          <a:p>
            <a:pPr indent="-317500" lvl="0" marL="457200" rtl="0" algn="l">
              <a:lnSpc>
                <a:spcPct val="100000"/>
              </a:lnSpc>
              <a:spcBef>
                <a:spcPts val="0"/>
              </a:spcBef>
              <a:spcAft>
                <a:spcPts val="0"/>
              </a:spcAft>
              <a:buSzPts val="1400"/>
              <a:buChar char="●"/>
            </a:pPr>
            <a:r>
              <a:rPr lang="en"/>
              <a:t>There weren’t enough grounds for comparison between the two in the texts but I believe there are other ways to compare such as dry-mass, energy content, intrinsic value, potential, etc.</a:t>
            </a:r>
            <a:endParaRPr/>
          </a:p>
          <a:p>
            <a:pPr indent="0" lvl="0" marL="457200" rtl="0" algn="l">
              <a:lnSpc>
                <a:spcPct val="100000"/>
              </a:lnSpc>
              <a:spcBef>
                <a:spcPts val="0"/>
              </a:spcBef>
              <a:spcAft>
                <a:spcPts val="0"/>
              </a:spcAft>
              <a:buNone/>
            </a:pPr>
            <a:r>
              <a:t/>
            </a:r>
            <a:endParaRPr/>
          </a:p>
        </p:txBody>
      </p:sp>
      <p:cxnSp>
        <p:nvCxnSpPr>
          <p:cNvPr id="563" name="Google Shape;563;p47"/>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8"/>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(Continued)</a:t>
            </a:r>
            <a:endParaRPr sz="2900"/>
          </a:p>
        </p:txBody>
      </p:sp>
      <p:sp>
        <p:nvSpPr>
          <p:cNvPr id="569" name="Google Shape;569;p48"/>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a:t>The use of renewable resources and its development has been a vital for to attain sustainability. Such as fuel-wood (part of forestry practice)</a:t>
            </a:r>
            <a:endParaRPr/>
          </a:p>
          <a:p>
            <a:pPr indent="-317500" lvl="0" marL="457200" rtl="0" algn="l">
              <a:lnSpc>
                <a:spcPct val="100000"/>
              </a:lnSpc>
              <a:spcBef>
                <a:spcPts val="0"/>
              </a:spcBef>
              <a:spcAft>
                <a:spcPts val="0"/>
              </a:spcAft>
              <a:buSzPts val="1400"/>
              <a:buChar char="●"/>
            </a:pPr>
            <a:r>
              <a:rPr lang="en"/>
              <a:t>The Global efforts toward sustainability practices by several NGOs, and UN bodies are playing key role along partnering with developing countries.</a:t>
            </a:r>
            <a:endParaRPr/>
          </a:p>
          <a:p>
            <a:pPr indent="-317500" lvl="0" marL="457200" rtl="0" algn="l">
              <a:lnSpc>
                <a:spcPct val="100000"/>
              </a:lnSpc>
              <a:spcBef>
                <a:spcPts val="0"/>
              </a:spcBef>
              <a:spcAft>
                <a:spcPts val="0"/>
              </a:spcAft>
              <a:buSzPts val="1400"/>
              <a:buChar char="●"/>
            </a:pPr>
            <a:r>
              <a:rPr lang="en"/>
              <a:t>These efforts have helped significantly to preserve forests and its species, and to reduce global emissions. </a:t>
            </a:r>
            <a:endParaRPr/>
          </a:p>
          <a:p>
            <a:pPr indent="0" lvl="0" marL="457200" rtl="0" algn="l">
              <a:lnSpc>
                <a:spcPct val="100000"/>
              </a:lnSpc>
              <a:spcBef>
                <a:spcPts val="0"/>
              </a:spcBef>
              <a:spcAft>
                <a:spcPts val="0"/>
              </a:spcAft>
              <a:buNone/>
            </a:pPr>
            <a:r>
              <a:t/>
            </a:r>
            <a:endParaRPr/>
          </a:p>
        </p:txBody>
      </p:sp>
      <p:cxnSp>
        <p:nvCxnSpPr>
          <p:cNvPr id="570" name="Google Shape;570;p48"/>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9"/>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The Overstory </a:t>
            </a:r>
            <a:endParaRPr sz="2900"/>
          </a:p>
        </p:txBody>
      </p:sp>
      <p:sp>
        <p:nvSpPr>
          <p:cNvPr id="576" name="Google Shape;576;p49"/>
          <p:cNvSpPr txBox="1"/>
          <p:nvPr>
            <p:ph idx="1" type="subTitle"/>
          </p:nvPr>
        </p:nvSpPr>
        <p:spPr>
          <a:xfrm>
            <a:off x="1046600" y="1470275"/>
            <a:ext cx="7563900" cy="32733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a:t>The scientist </a:t>
            </a:r>
            <a:r>
              <a:rPr lang="en"/>
              <a:t>Patricia Westerford’s </a:t>
            </a:r>
            <a:r>
              <a:rPr lang="en"/>
              <a:t>believes</a:t>
            </a:r>
            <a:r>
              <a:rPr lang="en"/>
              <a:t> that trees have a way to communicate with one another </a:t>
            </a:r>
            <a:endParaRPr/>
          </a:p>
          <a:p>
            <a:pPr indent="-330200" lvl="0" marL="457200" rtl="0" algn="l">
              <a:lnSpc>
                <a:spcPct val="100000"/>
              </a:lnSpc>
              <a:spcBef>
                <a:spcPts val="0"/>
              </a:spcBef>
              <a:spcAft>
                <a:spcPts val="0"/>
              </a:spcAft>
              <a:buSzPts val="1600"/>
              <a:buChar char="●"/>
            </a:pPr>
            <a:r>
              <a:rPr lang="en"/>
              <a:t>She is rejected from the scientific </a:t>
            </a:r>
            <a:r>
              <a:rPr lang="en"/>
              <a:t>community</a:t>
            </a:r>
            <a:r>
              <a:rPr lang="en"/>
              <a:t> and becomes an outcast for </a:t>
            </a:r>
            <a:r>
              <a:rPr lang="en"/>
              <a:t>believing</a:t>
            </a:r>
            <a:r>
              <a:rPr lang="en"/>
              <a:t> in this claim </a:t>
            </a:r>
            <a:endParaRPr/>
          </a:p>
          <a:p>
            <a:pPr indent="-330200" lvl="0" marL="457200" rtl="0" algn="l">
              <a:lnSpc>
                <a:spcPct val="100000"/>
              </a:lnSpc>
              <a:spcBef>
                <a:spcPts val="0"/>
              </a:spcBef>
              <a:spcAft>
                <a:spcPts val="0"/>
              </a:spcAft>
              <a:buSzPts val="1600"/>
              <a:buChar char="●"/>
            </a:pPr>
            <a:r>
              <a:rPr lang="en"/>
              <a:t>They make Sexist claims such as </a:t>
            </a:r>
            <a:r>
              <a:rPr lang="en">
                <a:solidFill>
                  <a:srgbClr val="000000"/>
                </a:solidFill>
              </a:rPr>
              <a:t>“</a:t>
            </a:r>
            <a:r>
              <a:rPr lang="en"/>
              <a:t>Girls doing science are like bears riding bikes. Possible, but Freakish.”</a:t>
            </a:r>
            <a:endParaRPr/>
          </a:p>
          <a:p>
            <a:pPr indent="-330200" lvl="0" marL="457200" rtl="0" algn="l">
              <a:spcBef>
                <a:spcPts val="0"/>
              </a:spcBef>
              <a:spcAft>
                <a:spcPts val="0"/>
              </a:spcAft>
              <a:buSzPts val="1600"/>
              <a:buChar char="●"/>
            </a:pPr>
            <a:r>
              <a:rPr lang="en"/>
              <a:t>She sticks to what she </a:t>
            </a:r>
            <a:r>
              <a:rPr lang="en"/>
              <a:t>believes</a:t>
            </a:r>
            <a:r>
              <a:rPr lang="en"/>
              <a:t> and runs </a:t>
            </a:r>
            <a:r>
              <a:rPr lang="en"/>
              <a:t>experiments</a:t>
            </a:r>
            <a:r>
              <a:rPr lang="en"/>
              <a:t> consisting of taping numbered plastic bags over the ends of branches, then collecting them at measured intervals.</a:t>
            </a:r>
            <a:endParaRPr/>
          </a:p>
          <a:p>
            <a:pPr indent="0" lvl="0" marL="457200" rtl="0" algn="l">
              <a:lnSpc>
                <a:spcPct val="100000"/>
              </a:lnSpc>
              <a:spcBef>
                <a:spcPts val="0"/>
              </a:spcBef>
              <a:spcAft>
                <a:spcPts val="0"/>
              </a:spcAft>
              <a:buNone/>
            </a:pPr>
            <a:r>
              <a:t/>
            </a:r>
            <a:endParaRPr/>
          </a:p>
        </p:txBody>
      </p:sp>
      <p:cxnSp>
        <p:nvCxnSpPr>
          <p:cNvPr id="577" name="Google Shape;577;p49"/>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0"/>
          <p:cNvSpPr txBox="1"/>
          <p:nvPr>
            <p:ph type="title"/>
          </p:nvPr>
        </p:nvSpPr>
        <p:spPr>
          <a:xfrm>
            <a:off x="1537775" y="317226"/>
            <a:ext cx="4872900" cy="126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(Continued)</a:t>
            </a:r>
            <a:endParaRPr sz="2900"/>
          </a:p>
        </p:txBody>
      </p:sp>
      <p:sp>
        <p:nvSpPr>
          <p:cNvPr id="583" name="Google Shape;583;p50"/>
          <p:cNvSpPr txBox="1"/>
          <p:nvPr>
            <p:ph idx="1" type="subTitle"/>
          </p:nvPr>
        </p:nvSpPr>
        <p:spPr>
          <a:xfrm>
            <a:off x="1537775" y="1794825"/>
            <a:ext cx="6839700" cy="2616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Other researchers finally catch up with her work and begin to replicate it and see that she is a genius and made a great discovery</a:t>
            </a:r>
            <a:endParaRPr/>
          </a:p>
          <a:p>
            <a:pPr indent="-330200" lvl="0" marL="457200" rtl="0" algn="l">
              <a:spcBef>
                <a:spcPts val="0"/>
              </a:spcBef>
              <a:spcAft>
                <a:spcPts val="0"/>
              </a:spcAft>
              <a:buSzPts val="1600"/>
              <a:buChar char="●"/>
            </a:pPr>
            <a:r>
              <a:rPr lang="en"/>
              <a:t>She then is accepted back into the scientific community and is praised and respected for her discovery</a:t>
            </a: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1"/>
          <p:cNvSpPr txBox="1"/>
          <p:nvPr>
            <p:ph type="title"/>
          </p:nvPr>
        </p:nvSpPr>
        <p:spPr>
          <a:xfrm>
            <a:off x="945425" y="1306825"/>
            <a:ext cx="7741500" cy="285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400"/>
              <a:t>If the story of Patricia Westerford’s </a:t>
            </a:r>
            <a:r>
              <a:rPr lang="en" sz="3400"/>
              <a:t>wasn't</a:t>
            </a:r>
            <a:r>
              <a:rPr lang="en" sz="3400"/>
              <a:t> fiction how would it change </a:t>
            </a:r>
            <a:r>
              <a:rPr lang="en" sz="3400"/>
              <a:t>environmental</a:t>
            </a:r>
            <a:r>
              <a:rPr lang="en" sz="3400"/>
              <a:t> ethics?</a:t>
            </a:r>
            <a:r>
              <a:rPr lang="en" sz="4300"/>
              <a:t> </a:t>
            </a:r>
            <a:endParaRPr sz="4300"/>
          </a:p>
        </p:txBody>
      </p:sp>
      <p:sp>
        <p:nvSpPr>
          <p:cNvPr id="589" name="Google Shape;589;p51"/>
          <p:cNvSpPr txBox="1"/>
          <p:nvPr>
            <p:ph idx="1" type="subTitle"/>
          </p:nvPr>
        </p:nvSpPr>
        <p:spPr>
          <a:xfrm>
            <a:off x="671550" y="1346450"/>
            <a:ext cx="7800900" cy="3273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p:txBody>
      </p:sp>
      <p:cxnSp>
        <p:nvCxnSpPr>
          <p:cNvPr id="590" name="Google Shape;590;p51"/>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2"/>
          <p:cNvSpPr txBox="1"/>
          <p:nvPr>
            <p:ph idx="1" type="subTitle"/>
          </p:nvPr>
        </p:nvSpPr>
        <p:spPr>
          <a:xfrm>
            <a:off x="945425" y="1470275"/>
            <a:ext cx="7665000" cy="32733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Font typeface="Unbounded"/>
              <a:buChar char="●"/>
            </a:pPr>
            <a:r>
              <a:rPr lang="en" sz="1400">
                <a:latin typeface="Unbounded"/>
                <a:ea typeface="Unbounded"/>
                <a:cs typeface="Unbounded"/>
                <a:sym typeface="Unbounded"/>
              </a:rPr>
              <a:t>Perhaps,</a:t>
            </a:r>
            <a:r>
              <a:rPr lang="en" sz="1400">
                <a:latin typeface="Unbounded"/>
                <a:ea typeface="Unbounded"/>
                <a:cs typeface="Unbounded"/>
                <a:sym typeface="Unbounded"/>
              </a:rPr>
              <a:t> it would not make any difference</a:t>
            </a:r>
            <a:endParaRPr sz="1400">
              <a:latin typeface="Unbounded"/>
              <a:ea typeface="Unbounded"/>
              <a:cs typeface="Unbounded"/>
              <a:sym typeface="Unbounded"/>
            </a:endParaRPr>
          </a:p>
          <a:p>
            <a:pPr indent="-304800" lvl="0" marL="457200" rtl="0" algn="l">
              <a:lnSpc>
                <a:spcPct val="100000"/>
              </a:lnSpc>
              <a:spcBef>
                <a:spcPts val="0"/>
              </a:spcBef>
              <a:spcAft>
                <a:spcPts val="0"/>
              </a:spcAft>
              <a:buSzPts val="1200"/>
              <a:buFont typeface="Unbounded"/>
              <a:buChar char="●"/>
            </a:pPr>
            <a:r>
              <a:rPr lang="en" sz="1400">
                <a:latin typeface="Unbounded"/>
                <a:ea typeface="Unbounded"/>
                <a:cs typeface="Unbounded"/>
                <a:sym typeface="Unbounded"/>
              </a:rPr>
              <a:t>Studies have shown that trees are connected to one another and are able to communicate in certain ways. </a:t>
            </a:r>
            <a:endParaRPr sz="1400">
              <a:latin typeface="Unbounded"/>
              <a:ea typeface="Unbounded"/>
              <a:cs typeface="Unbounded"/>
              <a:sym typeface="Unbounded"/>
            </a:endParaRPr>
          </a:p>
          <a:p>
            <a:pPr indent="-304800" lvl="0" marL="457200" rtl="0" algn="l">
              <a:lnSpc>
                <a:spcPct val="100000"/>
              </a:lnSpc>
              <a:spcBef>
                <a:spcPts val="0"/>
              </a:spcBef>
              <a:spcAft>
                <a:spcPts val="0"/>
              </a:spcAft>
              <a:buSzPts val="1200"/>
              <a:buFont typeface="Unbounded"/>
              <a:buChar char="●"/>
            </a:pPr>
            <a:r>
              <a:rPr lang="en" sz="1400">
                <a:latin typeface="Unbounded"/>
                <a:ea typeface="Unbounded"/>
                <a:cs typeface="Unbounded"/>
                <a:sym typeface="Unbounded"/>
              </a:rPr>
              <a:t>They are able to warn one another from </a:t>
            </a:r>
            <a:r>
              <a:rPr lang="en" sz="1400">
                <a:latin typeface="Unbounded"/>
                <a:ea typeface="Unbounded"/>
                <a:cs typeface="Unbounded"/>
                <a:sym typeface="Unbounded"/>
              </a:rPr>
              <a:t>insects or disease </a:t>
            </a:r>
            <a:r>
              <a:rPr lang="en" sz="1400">
                <a:latin typeface="Unbounded"/>
                <a:ea typeface="Unbounded"/>
                <a:cs typeface="Unbounded"/>
                <a:sym typeface="Unbounded"/>
              </a:rPr>
              <a:t>, help share </a:t>
            </a:r>
            <a:r>
              <a:rPr lang="en" sz="1400">
                <a:latin typeface="Unbounded"/>
                <a:ea typeface="Unbounded"/>
                <a:cs typeface="Unbounded"/>
                <a:sym typeface="Unbounded"/>
              </a:rPr>
              <a:t>resources</a:t>
            </a:r>
            <a:r>
              <a:rPr lang="en" sz="1400">
                <a:latin typeface="Unbounded"/>
                <a:ea typeface="Unbounded"/>
                <a:cs typeface="Unbounded"/>
                <a:sym typeface="Unbounded"/>
              </a:rPr>
              <a:t> and nutrients with each other during harsh conditions </a:t>
            </a:r>
            <a:endParaRPr sz="1400">
              <a:latin typeface="Unbounded"/>
              <a:ea typeface="Unbounded"/>
              <a:cs typeface="Unbounded"/>
              <a:sym typeface="Unbounded"/>
            </a:endParaRPr>
          </a:p>
          <a:p>
            <a:pPr indent="-304800" lvl="0" marL="457200" rtl="0" algn="l">
              <a:lnSpc>
                <a:spcPct val="100000"/>
              </a:lnSpc>
              <a:spcBef>
                <a:spcPts val="0"/>
              </a:spcBef>
              <a:spcAft>
                <a:spcPts val="0"/>
              </a:spcAft>
              <a:buSzPts val="1200"/>
              <a:buFont typeface="Unbounded"/>
              <a:buChar char="●"/>
            </a:pPr>
            <a:r>
              <a:rPr lang="en" sz="1400">
                <a:latin typeface="Unbounded"/>
                <a:ea typeface="Unbounded"/>
                <a:cs typeface="Unbounded"/>
                <a:sym typeface="Unbounded"/>
              </a:rPr>
              <a:t>The world already </a:t>
            </a:r>
            <a:r>
              <a:rPr lang="en" sz="1400">
                <a:latin typeface="Unbounded"/>
                <a:ea typeface="Unbounded"/>
                <a:cs typeface="Unbounded"/>
                <a:sym typeface="Unbounded"/>
              </a:rPr>
              <a:t>knows</a:t>
            </a:r>
            <a:r>
              <a:rPr lang="en" sz="1400">
                <a:latin typeface="Unbounded"/>
                <a:ea typeface="Unbounded"/>
                <a:cs typeface="Unbounded"/>
                <a:sym typeface="Unbounded"/>
              </a:rPr>
              <a:t> that trees are living giants that are </a:t>
            </a:r>
            <a:r>
              <a:rPr lang="en" sz="1400">
                <a:latin typeface="Unbounded"/>
                <a:ea typeface="Unbounded"/>
                <a:cs typeface="Unbounded"/>
                <a:sym typeface="Unbounded"/>
              </a:rPr>
              <a:t>capable</a:t>
            </a:r>
            <a:r>
              <a:rPr lang="en" sz="1400">
                <a:latin typeface="Unbounded"/>
                <a:ea typeface="Unbounded"/>
                <a:cs typeface="Unbounded"/>
                <a:sym typeface="Unbounded"/>
              </a:rPr>
              <a:t> of communicating with one another</a:t>
            </a:r>
            <a:endParaRPr sz="1400">
              <a:latin typeface="Unbounded"/>
              <a:ea typeface="Unbounded"/>
              <a:cs typeface="Unbounded"/>
              <a:sym typeface="Unbounded"/>
            </a:endParaRPr>
          </a:p>
          <a:p>
            <a:pPr indent="-304800" lvl="0" marL="457200" rtl="0" algn="l">
              <a:lnSpc>
                <a:spcPct val="100000"/>
              </a:lnSpc>
              <a:spcBef>
                <a:spcPts val="0"/>
              </a:spcBef>
              <a:spcAft>
                <a:spcPts val="0"/>
              </a:spcAft>
              <a:buSzPts val="1200"/>
              <a:buFont typeface="Unbounded"/>
              <a:buChar char="●"/>
            </a:pPr>
            <a:r>
              <a:rPr lang="en" sz="1400">
                <a:latin typeface="Unbounded"/>
                <a:ea typeface="Unbounded"/>
                <a:cs typeface="Unbounded"/>
                <a:sym typeface="Unbounded"/>
              </a:rPr>
              <a:t>However mass </a:t>
            </a:r>
            <a:r>
              <a:rPr lang="en" sz="1400">
                <a:latin typeface="Unbounded"/>
                <a:ea typeface="Unbounded"/>
                <a:cs typeface="Unbounded"/>
                <a:sym typeface="Unbounded"/>
              </a:rPr>
              <a:t>deforestation</a:t>
            </a:r>
            <a:r>
              <a:rPr lang="en" sz="1400">
                <a:latin typeface="Unbounded"/>
                <a:ea typeface="Unbounded"/>
                <a:cs typeface="Unbounded"/>
                <a:sym typeface="Unbounded"/>
              </a:rPr>
              <a:t> is still a massive threat that they face currently</a:t>
            </a:r>
            <a:endParaRPr sz="1400">
              <a:latin typeface="Unbounded"/>
              <a:ea typeface="Unbounded"/>
              <a:cs typeface="Unbounded"/>
              <a:sym typeface="Unbounded"/>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sz="1100"/>
              <a:t>Souce: </a:t>
            </a:r>
            <a:r>
              <a:rPr lang="en" sz="1100" u="sng">
                <a:solidFill>
                  <a:schemeClr val="hlink"/>
                </a:solidFill>
                <a:hlinkClick r:id="rId3"/>
              </a:rPr>
              <a:t>Do Trees Talk to Each Other?</a:t>
            </a:r>
            <a:r>
              <a:rPr lang="en" sz="1100"/>
              <a:t> </a:t>
            </a:r>
            <a:r>
              <a:rPr lang="en" sz="1100"/>
              <a:t> </a:t>
            </a:r>
            <a:endParaRPr sz="1100"/>
          </a:p>
          <a:p>
            <a:pPr indent="0" lvl="0" marL="457200" rtl="0" algn="l">
              <a:lnSpc>
                <a:spcPct val="100000"/>
              </a:lnSpc>
              <a:spcBef>
                <a:spcPts val="0"/>
              </a:spcBef>
              <a:spcAft>
                <a:spcPts val="0"/>
              </a:spcAft>
              <a:buNone/>
            </a:pPr>
            <a:r>
              <a:t/>
            </a:r>
            <a:endParaRPr/>
          </a:p>
        </p:txBody>
      </p:sp>
      <p:cxnSp>
        <p:nvCxnSpPr>
          <p:cNvPr id="596" name="Google Shape;596;p52"/>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3"/>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The Overstory pt. 2</a:t>
            </a:r>
            <a:endParaRPr sz="2900"/>
          </a:p>
        </p:txBody>
      </p:sp>
      <p:sp>
        <p:nvSpPr>
          <p:cNvPr id="602" name="Google Shape;602;p53"/>
          <p:cNvSpPr txBox="1"/>
          <p:nvPr>
            <p:ph idx="1" type="subTitle"/>
          </p:nvPr>
        </p:nvSpPr>
        <p:spPr>
          <a:xfrm>
            <a:off x="1518375" y="1720150"/>
            <a:ext cx="6596400" cy="28518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rPr lang="en" sz="1800"/>
              <a:t>Analyzing objections a reasonable critic may come up with</a:t>
            </a:r>
            <a:endParaRPr sz="1800"/>
          </a:p>
          <a:p>
            <a:pPr indent="0" lvl="0" marL="45720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t/>
            </a:r>
            <a:endParaRPr sz="1800"/>
          </a:p>
          <a:p>
            <a:pPr indent="0" lvl="0" marL="457200" rtl="0" algn="l">
              <a:lnSpc>
                <a:spcPct val="100000"/>
              </a:lnSpc>
              <a:spcBef>
                <a:spcPts val="0"/>
              </a:spcBef>
              <a:spcAft>
                <a:spcPts val="0"/>
              </a:spcAft>
              <a:buNone/>
            </a:pPr>
            <a:r>
              <a:rPr lang="en" sz="1800"/>
              <a:t>Westerford’s argument is </a:t>
            </a:r>
            <a:r>
              <a:rPr lang="en" sz="1800"/>
              <a:t>compelling</a:t>
            </a:r>
            <a:r>
              <a:rPr lang="en" sz="1800"/>
              <a:t>, but leaves important philosophical questions unanswered</a:t>
            </a:r>
            <a:endParaRPr sz="1800"/>
          </a:p>
        </p:txBody>
      </p:sp>
      <p:cxnSp>
        <p:nvCxnSpPr>
          <p:cNvPr id="603" name="Google Shape;603;p53"/>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4"/>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1: Anthropocentrism</a:t>
            </a:r>
            <a:endParaRPr sz="2900"/>
          </a:p>
        </p:txBody>
      </p:sp>
      <p:sp>
        <p:nvSpPr>
          <p:cNvPr id="609" name="Google Shape;609;p54"/>
          <p:cNvSpPr txBox="1"/>
          <p:nvPr>
            <p:ph idx="1" type="subTitle"/>
          </p:nvPr>
        </p:nvSpPr>
        <p:spPr>
          <a:xfrm>
            <a:off x="1062875" y="1470275"/>
            <a:ext cx="7547700" cy="32733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b="1" lang="en" sz="1800"/>
              <a:t>Anthropocentrism</a:t>
            </a:r>
            <a:r>
              <a:rPr lang="en" sz="1800"/>
              <a:t>- humans have a higher moral status than other organisms </a:t>
            </a:r>
            <a:r>
              <a:rPr lang="en" sz="1800"/>
              <a:t> </a:t>
            </a:r>
            <a:endParaRPr sz="1800"/>
          </a:p>
          <a:p>
            <a:pPr indent="0" lvl="0" marL="457200" rtl="0" algn="l">
              <a:lnSpc>
                <a:spcPct val="100000"/>
              </a:lnSpc>
              <a:spcBef>
                <a:spcPts val="0"/>
              </a:spcBef>
              <a:spcAft>
                <a:spcPts val="0"/>
              </a:spcAft>
              <a:buNone/>
            </a:pPr>
            <a:r>
              <a:t/>
            </a:r>
            <a:endParaRPr sz="1800"/>
          </a:p>
          <a:p>
            <a:pPr indent="-330200" lvl="0" marL="457200" rtl="0" algn="l">
              <a:lnSpc>
                <a:spcPct val="100000"/>
              </a:lnSpc>
              <a:spcBef>
                <a:spcPts val="0"/>
              </a:spcBef>
              <a:spcAft>
                <a:spcPts val="0"/>
              </a:spcAft>
              <a:buSzPts val="1600"/>
              <a:buChar char="●"/>
            </a:pPr>
            <a:r>
              <a:rPr lang="en" sz="1800"/>
              <a:t>Objection- Even if </a:t>
            </a:r>
            <a:r>
              <a:rPr lang="en" sz="1800"/>
              <a:t>forests</a:t>
            </a:r>
            <a:r>
              <a:rPr lang="en" sz="1800"/>
              <a:t> are interconnected and shape ecosystems, humans still have a higher moral status, therefore, human interests and </a:t>
            </a:r>
            <a:r>
              <a:rPr lang="en" sz="1800"/>
              <a:t>survival</a:t>
            </a:r>
            <a:r>
              <a:rPr lang="en" sz="1800"/>
              <a:t> take </a:t>
            </a:r>
            <a:r>
              <a:rPr lang="en" sz="1800"/>
              <a:t>priority</a:t>
            </a:r>
            <a:r>
              <a:rPr lang="en" sz="1800"/>
              <a:t> over ecological preservation.</a:t>
            </a:r>
            <a:endParaRPr sz="1800"/>
          </a:p>
          <a:p>
            <a:pPr indent="0" lvl="0" marL="457200" rtl="0" algn="l">
              <a:lnSpc>
                <a:spcPct val="100000"/>
              </a:lnSpc>
              <a:spcBef>
                <a:spcPts val="0"/>
              </a:spcBef>
              <a:spcAft>
                <a:spcPts val="0"/>
              </a:spcAft>
              <a:buNone/>
            </a:pPr>
            <a:r>
              <a:t/>
            </a:r>
            <a:endParaRPr sz="1800"/>
          </a:p>
          <a:p>
            <a:pPr indent="-330200" lvl="1" marL="914400" rtl="0" algn="l">
              <a:lnSpc>
                <a:spcPct val="100000"/>
              </a:lnSpc>
              <a:spcBef>
                <a:spcPts val="0"/>
              </a:spcBef>
              <a:spcAft>
                <a:spcPts val="0"/>
              </a:spcAft>
              <a:buSzPts val="1600"/>
              <a:buChar char="○"/>
            </a:pPr>
            <a:r>
              <a:rPr lang="en" sz="1800"/>
              <a:t>Critique- assumes environmental destruction is inevitable; Ecological life still have intrinsic value</a:t>
            </a:r>
            <a:endParaRPr sz="1800"/>
          </a:p>
        </p:txBody>
      </p:sp>
      <p:cxnSp>
        <p:nvCxnSpPr>
          <p:cNvPr id="610" name="Google Shape;610;p54"/>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5"/>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2: Biocentrism </a:t>
            </a:r>
            <a:endParaRPr sz="2900"/>
          </a:p>
        </p:txBody>
      </p:sp>
      <p:sp>
        <p:nvSpPr>
          <p:cNvPr id="616" name="Google Shape;616;p55"/>
          <p:cNvSpPr txBox="1"/>
          <p:nvPr>
            <p:ph idx="1" type="subTitle"/>
          </p:nvPr>
        </p:nvSpPr>
        <p:spPr>
          <a:xfrm>
            <a:off x="1147225" y="1470275"/>
            <a:ext cx="7119600" cy="3273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800"/>
              <a:t>Forest ecosystems function as interconnected wholes, not isolated organisms</a:t>
            </a:r>
            <a:endParaRPr sz="1800"/>
          </a:p>
          <a:p>
            <a:pPr indent="0" lvl="0" marL="457200" rtl="0" algn="l">
              <a:lnSpc>
                <a:spcPct val="100000"/>
              </a:lnSpc>
              <a:spcBef>
                <a:spcPts val="0"/>
              </a:spcBef>
              <a:spcAft>
                <a:spcPts val="0"/>
              </a:spcAft>
              <a:buNone/>
            </a:pPr>
            <a:r>
              <a:t/>
            </a:r>
            <a:endParaRPr sz="1800"/>
          </a:p>
          <a:p>
            <a:pPr indent="0" lvl="0" marL="457200" rtl="0" algn="l">
              <a:lnSpc>
                <a:spcPct val="100000"/>
              </a:lnSpc>
              <a:spcBef>
                <a:spcPts val="0"/>
              </a:spcBef>
              <a:spcAft>
                <a:spcPts val="0"/>
              </a:spcAft>
              <a:buNone/>
            </a:pPr>
            <a:r>
              <a:t/>
            </a:r>
            <a:endParaRPr sz="1800"/>
          </a:p>
          <a:p>
            <a:pPr indent="-342900" lvl="0" marL="457200" rtl="0" algn="l">
              <a:lnSpc>
                <a:spcPct val="100000"/>
              </a:lnSpc>
              <a:spcBef>
                <a:spcPts val="0"/>
              </a:spcBef>
              <a:spcAft>
                <a:spcPts val="0"/>
              </a:spcAft>
              <a:buSzPts val="1800"/>
              <a:buChar char="●"/>
            </a:pPr>
            <a:r>
              <a:rPr lang="en" sz="1800"/>
              <a:t>Objection- All living organisms have their own individual intrinsic value, so emphasizing the forest as a whole undermines individual organisms</a:t>
            </a:r>
            <a:endParaRPr sz="1800"/>
          </a:p>
          <a:p>
            <a:pPr indent="0" lvl="0" marL="0" rtl="0" algn="l">
              <a:lnSpc>
                <a:spcPct val="100000"/>
              </a:lnSpc>
              <a:spcBef>
                <a:spcPts val="0"/>
              </a:spcBef>
              <a:spcAft>
                <a:spcPts val="0"/>
              </a:spcAft>
              <a:buNone/>
            </a:pPr>
            <a:r>
              <a:t/>
            </a:r>
            <a:endParaRPr sz="1800"/>
          </a:p>
          <a:p>
            <a:pPr indent="-342900" lvl="1" marL="914400" rtl="0" algn="l">
              <a:lnSpc>
                <a:spcPct val="100000"/>
              </a:lnSpc>
              <a:spcBef>
                <a:spcPts val="0"/>
              </a:spcBef>
              <a:spcAft>
                <a:spcPts val="0"/>
              </a:spcAft>
              <a:buSzPts val="1800"/>
              <a:buChar char="○"/>
            </a:pPr>
            <a:r>
              <a:rPr lang="en" sz="1800"/>
              <a:t>Critique- Individual organisms inherent worth should not be diminished in order to acknowledge ecological wholes. </a:t>
            </a:r>
            <a:endParaRPr sz="1800"/>
          </a:p>
        </p:txBody>
      </p:sp>
      <p:cxnSp>
        <p:nvCxnSpPr>
          <p:cNvPr id="617" name="Google Shape;617;p55"/>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6"/>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3: </a:t>
            </a:r>
            <a:r>
              <a:rPr lang="en" sz="2900"/>
              <a:t>Instrumental</a:t>
            </a:r>
            <a:r>
              <a:rPr lang="en" sz="2900"/>
              <a:t> Value</a:t>
            </a:r>
            <a:endParaRPr sz="2900"/>
          </a:p>
        </p:txBody>
      </p:sp>
      <p:sp>
        <p:nvSpPr>
          <p:cNvPr id="623" name="Google Shape;623;p56"/>
          <p:cNvSpPr txBox="1"/>
          <p:nvPr>
            <p:ph idx="1" type="subTitle"/>
          </p:nvPr>
        </p:nvSpPr>
        <p:spPr>
          <a:xfrm>
            <a:off x="1147225" y="1470275"/>
            <a:ext cx="7035000" cy="3273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800"/>
              <a:t>Westerford explains that trees form interconnected systems that are conducive to living organisms beyond what we grasp.</a:t>
            </a:r>
            <a:endParaRPr sz="1800"/>
          </a:p>
          <a:p>
            <a:pPr indent="0" lvl="0" marL="457200" rtl="0" algn="l">
              <a:lnSpc>
                <a:spcPct val="100000"/>
              </a:lnSpc>
              <a:spcBef>
                <a:spcPts val="0"/>
              </a:spcBef>
              <a:spcAft>
                <a:spcPts val="0"/>
              </a:spcAft>
              <a:buNone/>
            </a:pPr>
            <a:r>
              <a:t/>
            </a:r>
            <a:endParaRPr sz="1800"/>
          </a:p>
          <a:p>
            <a:pPr indent="-342900" lvl="0" marL="457200" rtl="0" algn="l">
              <a:lnSpc>
                <a:spcPct val="100000"/>
              </a:lnSpc>
              <a:spcBef>
                <a:spcPts val="0"/>
              </a:spcBef>
              <a:spcAft>
                <a:spcPts val="0"/>
              </a:spcAft>
              <a:buSzPts val="1800"/>
              <a:buChar char="●"/>
            </a:pPr>
            <a:r>
              <a:rPr lang="en" sz="1800"/>
              <a:t>Objection- Trees sustain ecosystems and benefit other life, therefore their value is instrumental</a:t>
            </a:r>
            <a:endParaRPr sz="1800"/>
          </a:p>
          <a:p>
            <a:pPr indent="0" lvl="0" marL="457200" rtl="0" algn="l">
              <a:lnSpc>
                <a:spcPct val="100000"/>
              </a:lnSpc>
              <a:spcBef>
                <a:spcPts val="0"/>
              </a:spcBef>
              <a:spcAft>
                <a:spcPts val="0"/>
              </a:spcAft>
              <a:buNone/>
            </a:pPr>
            <a:r>
              <a:t/>
            </a:r>
            <a:endParaRPr sz="1800"/>
          </a:p>
          <a:p>
            <a:pPr indent="-342900" lvl="1" marL="914400" rtl="0" algn="l">
              <a:lnSpc>
                <a:spcPct val="100000"/>
              </a:lnSpc>
              <a:spcBef>
                <a:spcPts val="0"/>
              </a:spcBef>
              <a:spcAft>
                <a:spcPts val="0"/>
              </a:spcAft>
              <a:buSzPts val="1800"/>
              <a:buChar char="○"/>
            </a:pPr>
            <a:r>
              <a:rPr lang="en" sz="1800"/>
              <a:t>Critique- Even if forests have instrumental value, they sustain other life and play a role in maintaining ecological balance </a:t>
            </a:r>
            <a:endParaRPr sz="1800"/>
          </a:p>
        </p:txBody>
      </p:sp>
      <p:cxnSp>
        <p:nvCxnSpPr>
          <p:cNvPr id="624" name="Google Shape;624;p56"/>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7"/>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4: Moral Obligation</a:t>
            </a:r>
            <a:endParaRPr sz="2900"/>
          </a:p>
        </p:txBody>
      </p:sp>
      <p:sp>
        <p:nvSpPr>
          <p:cNvPr id="630" name="Google Shape;630;p57"/>
          <p:cNvSpPr txBox="1"/>
          <p:nvPr>
            <p:ph idx="1" type="subTitle"/>
          </p:nvPr>
        </p:nvSpPr>
        <p:spPr>
          <a:xfrm>
            <a:off x="1096600" y="1470275"/>
            <a:ext cx="7513800" cy="3273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800"/>
              <a:t>Her research suggest that trees function together through underground networks, sharing nutrients</a:t>
            </a:r>
            <a:endParaRPr sz="1800"/>
          </a:p>
          <a:p>
            <a:pPr indent="0" lvl="0" marL="0" rtl="0" algn="l">
              <a:lnSpc>
                <a:spcPct val="100000"/>
              </a:lnSpc>
              <a:spcBef>
                <a:spcPts val="0"/>
              </a:spcBef>
              <a:spcAft>
                <a:spcPts val="0"/>
              </a:spcAft>
              <a:buNone/>
            </a:pPr>
            <a:r>
              <a:t/>
            </a:r>
            <a:endParaRPr sz="1800"/>
          </a:p>
          <a:p>
            <a:pPr indent="-342900" lvl="0" marL="457200" rtl="0" algn="l">
              <a:lnSpc>
                <a:spcPct val="100000"/>
              </a:lnSpc>
              <a:spcBef>
                <a:spcPts val="0"/>
              </a:spcBef>
              <a:spcAft>
                <a:spcPts val="0"/>
              </a:spcAft>
              <a:buSzPts val="1800"/>
              <a:buChar char="●"/>
            </a:pPr>
            <a:r>
              <a:rPr lang="en" sz="1800"/>
              <a:t>Objection- Trees sharing nutrients in nature does not assign humans a moral obligation to protect them.</a:t>
            </a:r>
            <a:endParaRPr sz="1800"/>
          </a:p>
          <a:p>
            <a:pPr indent="0" lvl="0" marL="0" rtl="0" algn="l">
              <a:lnSpc>
                <a:spcPct val="100000"/>
              </a:lnSpc>
              <a:spcBef>
                <a:spcPts val="0"/>
              </a:spcBef>
              <a:spcAft>
                <a:spcPts val="0"/>
              </a:spcAft>
              <a:buNone/>
            </a:pPr>
            <a:r>
              <a:t/>
            </a:r>
            <a:endParaRPr sz="1800"/>
          </a:p>
          <a:p>
            <a:pPr indent="-342900" lvl="1" marL="914400" rtl="0" algn="l">
              <a:lnSpc>
                <a:spcPct val="100000"/>
              </a:lnSpc>
              <a:spcBef>
                <a:spcPts val="0"/>
              </a:spcBef>
              <a:spcAft>
                <a:spcPts val="0"/>
              </a:spcAft>
              <a:buSzPts val="1800"/>
              <a:buChar char="○"/>
            </a:pPr>
            <a:r>
              <a:rPr lang="en" sz="1800"/>
              <a:t>Critique</a:t>
            </a:r>
            <a:r>
              <a:rPr lang="en" sz="1800"/>
              <a:t>- Understanding their function and interconnectedness reveals the consequences of destruction</a:t>
            </a:r>
            <a:endParaRPr sz="1800"/>
          </a:p>
          <a:p>
            <a:pPr indent="0" lvl="0" marL="0" rtl="0" algn="l">
              <a:lnSpc>
                <a:spcPct val="100000"/>
              </a:lnSpc>
              <a:spcBef>
                <a:spcPts val="0"/>
              </a:spcBef>
              <a:spcAft>
                <a:spcPts val="0"/>
              </a:spcAft>
              <a:buNone/>
            </a:pPr>
            <a:r>
              <a:t/>
            </a:r>
            <a:endParaRPr/>
          </a:p>
        </p:txBody>
      </p:sp>
      <p:cxnSp>
        <p:nvCxnSpPr>
          <p:cNvPr id="631" name="Google Shape;631;p57"/>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8"/>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5: No Individuals</a:t>
            </a:r>
            <a:endParaRPr sz="2900"/>
          </a:p>
        </p:txBody>
      </p:sp>
      <p:sp>
        <p:nvSpPr>
          <p:cNvPr id="637" name="Google Shape;637;p58"/>
          <p:cNvSpPr txBox="1"/>
          <p:nvPr>
            <p:ph idx="1" type="subTitle"/>
          </p:nvPr>
        </p:nvSpPr>
        <p:spPr>
          <a:xfrm>
            <a:off x="1214700" y="1470275"/>
            <a:ext cx="7395600" cy="3273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800"/>
              <a:t>“There are no </a:t>
            </a:r>
            <a:r>
              <a:rPr lang="en" sz="1800"/>
              <a:t>individuals.” - page 146</a:t>
            </a:r>
            <a:endParaRPr sz="1800"/>
          </a:p>
          <a:p>
            <a:pPr indent="0" lvl="0" marL="0" rtl="0" algn="l">
              <a:lnSpc>
                <a:spcPct val="100000"/>
              </a:lnSpc>
              <a:spcBef>
                <a:spcPts val="0"/>
              </a:spcBef>
              <a:spcAft>
                <a:spcPts val="0"/>
              </a:spcAft>
              <a:buNone/>
            </a:pPr>
            <a:r>
              <a:t/>
            </a:r>
            <a:endParaRPr sz="1800"/>
          </a:p>
          <a:p>
            <a:pPr indent="-342900" lvl="0" marL="457200" rtl="0" algn="l">
              <a:lnSpc>
                <a:spcPct val="100000"/>
              </a:lnSpc>
              <a:spcBef>
                <a:spcPts val="0"/>
              </a:spcBef>
              <a:spcAft>
                <a:spcPts val="0"/>
              </a:spcAft>
              <a:buSzPts val="1800"/>
              <a:buChar char="●"/>
            </a:pPr>
            <a:r>
              <a:rPr lang="en" sz="1800"/>
              <a:t>Objection- Ecological interconnectedness undermines individual value by putting the system’s well-being ahead of the individuals that inhabit it.</a:t>
            </a:r>
            <a:endParaRPr sz="1800"/>
          </a:p>
          <a:p>
            <a:pPr indent="0" lvl="0" marL="457200" rtl="0" algn="l">
              <a:lnSpc>
                <a:spcPct val="100000"/>
              </a:lnSpc>
              <a:spcBef>
                <a:spcPts val="0"/>
              </a:spcBef>
              <a:spcAft>
                <a:spcPts val="0"/>
              </a:spcAft>
              <a:buNone/>
            </a:pPr>
            <a:r>
              <a:t/>
            </a:r>
            <a:endParaRPr sz="1800"/>
          </a:p>
          <a:p>
            <a:pPr indent="-342900" lvl="1" marL="914400" rtl="0" algn="l">
              <a:lnSpc>
                <a:spcPct val="100000"/>
              </a:lnSpc>
              <a:spcBef>
                <a:spcPts val="0"/>
              </a:spcBef>
              <a:spcAft>
                <a:spcPts val="0"/>
              </a:spcAft>
              <a:buSzPts val="1800"/>
              <a:buChar char="○"/>
            </a:pPr>
            <a:r>
              <a:rPr lang="en" sz="1800"/>
              <a:t>Critique- protecting the ecological system is necessary for individual components to thrive within it.</a:t>
            </a:r>
            <a:endParaRPr sz="1800"/>
          </a:p>
        </p:txBody>
      </p:sp>
      <p:cxnSp>
        <p:nvCxnSpPr>
          <p:cNvPr id="638" name="Google Shape;638;p58"/>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9"/>
          <p:cNvSpPr txBox="1"/>
          <p:nvPr>
            <p:ph type="title"/>
          </p:nvPr>
        </p:nvSpPr>
        <p:spPr>
          <a:xfrm>
            <a:off x="945425" y="635725"/>
            <a:ext cx="7741500" cy="67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t>Objection 6: Human Survival </a:t>
            </a:r>
            <a:endParaRPr sz="2900"/>
          </a:p>
        </p:txBody>
      </p:sp>
      <p:sp>
        <p:nvSpPr>
          <p:cNvPr id="644" name="Google Shape;644;p59"/>
          <p:cNvSpPr txBox="1"/>
          <p:nvPr>
            <p:ph idx="1" type="subTitle"/>
          </p:nvPr>
        </p:nvSpPr>
        <p:spPr>
          <a:xfrm>
            <a:off x="809625" y="1470275"/>
            <a:ext cx="7800900" cy="3273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1800"/>
              <a:t>Forest systems sustain life and ecological </a:t>
            </a:r>
            <a:r>
              <a:rPr lang="en" sz="1800"/>
              <a:t>balance</a:t>
            </a:r>
            <a:endParaRPr sz="1800"/>
          </a:p>
          <a:p>
            <a:pPr indent="0" lvl="0" marL="0" rtl="0" algn="l">
              <a:lnSpc>
                <a:spcPct val="100000"/>
              </a:lnSpc>
              <a:spcBef>
                <a:spcPts val="0"/>
              </a:spcBef>
              <a:spcAft>
                <a:spcPts val="0"/>
              </a:spcAft>
              <a:buNone/>
            </a:pPr>
            <a:r>
              <a:t/>
            </a:r>
            <a:endParaRPr sz="1800"/>
          </a:p>
          <a:p>
            <a:pPr indent="-342900" lvl="0" marL="457200" rtl="0" algn="l">
              <a:lnSpc>
                <a:spcPct val="100000"/>
              </a:lnSpc>
              <a:spcBef>
                <a:spcPts val="0"/>
              </a:spcBef>
              <a:spcAft>
                <a:spcPts val="0"/>
              </a:spcAft>
              <a:buSzPts val="1800"/>
              <a:buChar char="●"/>
            </a:pPr>
            <a:r>
              <a:rPr lang="en" sz="1800"/>
              <a:t>Objection- It could be morally irrational to put ecosystems before immediate human needs in time of survival or shortage</a:t>
            </a:r>
            <a:endParaRPr sz="1800"/>
          </a:p>
          <a:p>
            <a:pPr indent="0" lvl="0" marL="0" rtl="0" algn="l">
              <a:lnSpc>
                <a:spcPct val="100000"/>
              </a:lnSpc>
              <a:spcBef>
                <a:spcPts val="0"/>
              </a:spcBef>
              <a:spcAft>
                <a:spcPts val="0"/>
              </a:spcAft>
              <a:buNone/>
            </a:pPr>
            <a:r>
              <a:t/>
            </a:r>
            <a:endParaRPr sz="1800"/>
          </a:p>
          <a:p>
            <a:pPr indent="-342900" lvl="1" marL="914400" rtl="0" algn="l">
              <a:lnSpc>
                <a:spcPct val="100000"/>
              </a:lnSpc>
              <a:spcBef>
                <a:spcPts val="0"/>
              </a:spcBef>
              <a:spcAft>
                <a:spcPts val="0"/>
              </a:spcAft>
              <a:buSzPts val="1800"/>
              <a:buChar char="○"/>
            </a:pPr>
            <a:r>
              <a:rPr lang="en" sz="1800"/>
              <a:t>Critique- Protecting ecological systems protects long term human survival</a:t>
            </a:r>
            <a:endParaRPr sz="1800"/>
          </a:p>
          <a:p>
            <a:pPr indent="0" lvl="0" marL="457200" rtl="0" algn="l">
              <a:lnSpc>
                <a:spcPct val="100000"/>
              </a:lnSpc>
              <a:spcBef>
                <a:spcPts val="0"/>
              </a:spcBef>
              <a:spcAft>
                <a:spcPts val="0"/>
              </a:spcAft>
              <a:buNone/>
            </a:pPr>
            <a:r>
              <a:t/>
            </a:r>
            <a:endParaRPr/>
          </a:p>
        </p:txBody>
      </p:sp>
      <p:cxnSp>
        <p:nvCxnSpPr>
          <p:cNvPr id="645" name="Google Shape;645;p59"/>
          <p:cNvCxnSpPr/>
          <p:nvPr/>
        </p:nvCxnSpPr>
        <p:spPr>
          <a:xfrm>
            <a:off x="1649850" y="1306813"/>
            <a:ext cx="5844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0"/>
          <p:cNvSpPr txBox="1"/>
          <p:nvPr>
            <p:ph type="title"/>
          </p:nvPr>
        </p:nvSpPr>
        <p:spPr>
          <a:xfrm>
            <a:off x="2135550" y="1062875"/>
            <a:ext cx="5304600" cy="249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